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662" r:id="rId5"/>
    <p:sldId id="260" r:id="rId6"/>
    <p:sldId id="664" r:id="rId7"/>
    <p:sldId id="261" r:id="rId8"/>
    <p:sldId id="262" r:id="rId9"/>
    <p:sldId id="264" r:id="rId10"/>
    <p:sldId id="263" r:id="rId11"/>
    <p:sldId id="650" r:id="rId12"/>
    <p:sldId id="660" r:id="rId13"/>
    <p:sldId id="6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A7290-919D-B045-58CA-9623FA813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CBCCC-6DAA-C28C-18F0-42BB14F45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077B2-0255-ED89-A32A-31A4343D5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32576-C848-AB43-BB58-2FE080FCB7AD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DF811-61C3-E23F-6015-569DD12B3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480E5-2E9F-28D1-2DA8-FF44EAE0F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3F8A-738D-0344-893C-001CB413E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57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A8D87-AE5D-54A0-1940-021E90853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D2DF2-4234-8A52-968E-DEAEC44D1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6405F-367E-F230-767B-FD6D36F54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32576-C848-AB43-BB58-2FE080FCB7AD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B52F7-C59A-7AF3-6FE2-406223CC7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462D3-E98A-F42C-C4B0-AA93AF746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3F8A-738D-0344-893C-001CB413E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51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2A2AE-2F47-26D9-EF78-1322128F1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86166-C772-976A-6FBD-5E587D06C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DAE89-E693-F89C-2906-1EF68DDF0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32576-C848-AB43-BB58-2FE080FCB7AD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8A7F9-03A8-DCE3-6282-5E5395F87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27103-552C-338F-0110-E2821D2F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3F8A-738D-0344-893C-001CB413E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5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D6A0C-6D47-862A-C7BF-7A22BEF73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25B97-AE42-F834-2290-45DFC5C25F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27BAA-8215-950A-7229-361F23F89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4A162-BA79-DF73-6FE6-F524DBC19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32576-C848-AB43-BB58-2FE080FCB7AD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6A3E9-421A-E2F8-4C60-8AD7720BF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3A66F-A31C-B4B4-FA62-74BD01D26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3F8A-738D-0344-893C-001CB413E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997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74069-838E-95DE-24FD-3265E12AF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BC089-3FD1-1091-E8B5-5ACE09780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A7407-D3C5-03CB-5815-7C61B7CD1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D8AB4-BE3F-0956-FFDF-F3607EC61E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ABD04E-DCE5-2320-B956-49764CAB36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21F1EC-6190-DDD4-067E-44E1FE6AD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32576-C848-AB43-BB58-2FE080FCB7AD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7DCFAF-E677-7976-ED6D-7E9204C18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089959-52EA-20B6-0695-A302F2DC3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3F8A-738D-0344-893C-001CB413E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78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C174E-45BC-592E-F522-9095C7629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BCE1EB-C388-268D-4E36-39952DB1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32576-C848-AB43-BB58-2FE080FCB7AD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5E4106-A73E-AB3E-FF88-D80E98529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6C5FD8-C752-93BF-AB50-B88D04C4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3F8A-738D-0344-893C-001CB413E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75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908C53-61E6-C7F7-9FD2-506BF7A63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32576-C848-AB43-BB58-2FE080FCB7AD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775E8A-0665-DB7B-DA51-E67690A7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42884-F9A1-D47A-C461-B5A343B3D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3F8A-738D-0344-893C-001CB413E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29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6B524-76F8-E442-AF79-8BEB2F46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4D4EE-B011-2C99-53D4-C5874F148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E5C6E9-1C25-5F43-916C-BE358C902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D8D98-CA7D-A455-A5EC-FBAB62C64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32576-C848-AB43-BB58-2FE080FCB7AD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0B253-CE7D-D983-0338-BEDF4BB12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2B9AA-7CD4-121A-73B7-6D533CCE5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3F8A-738D-0344-893C-001CB413E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120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DFA3B-9A5C-D329-B81C-15B421AEB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EC6AB-7D55-74F5-7DF6-C1E22346D0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D4535B-51D8-F276-9968-B54C2D665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1008F-5715-C34F-B910-87247C7E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32576-C848-AB43-BB58-2FE080FCB7AD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FCB17-6E57-9C7F-6A43-F3A76FA25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3414A-D32D-C3F2-A509-05286F357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3F8A-738D-0344-893C-001CB413E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84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059F9-AA02-53D3-1AC5-29DFB5E5C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35808-6B42-DEFF-AB10-EFC513CE8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26BA2-CB9A-B165-DA9D-AA8774C2D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32576-C848-AB43-BB58-2FE080FCB7AD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4C3E6-DFEC-2A41-0149-C06D69166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CD95A-DE2B-ECC1-360F-B9062434B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3F8A-738D-0344-893C-001CB413E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95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614AE5-8D9B-684E-ED49-86FBC4D95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CA13F3-934C-3C44-249C-56BE560DF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D083C-4639-EE27-B115-5D1BBB3A1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32576-C848-AB43-BB58-2FE080FCB7AD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C76B6-7D99-9D54-0110-F7EF79F10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AB457-E07D-9152-C1F1-42C6FDF0B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3F8A-738D-0344-893C-001CB413E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385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3711980" cy="95329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5049180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714500"/>
            <a:ext cx="5047593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9773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960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FAA92A-7E7F-F845-EEF0-8214D3BF1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A2AFF-7266-0A91-CB0A-01CD2F11E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C0FDF-CF47-071F-0095-AE9B539C48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432576-C848-AB43-BB58-2FE080FCB7AD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0D43A-EA06-8AC4-B368-921C53373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1BD51-08F2-D24B-F67C-CF7AD5D9B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133F8A-738D-0344-893C-001CB413E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807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57271-7B41-89F0-FE1A-32994FE7F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Quantum hackathon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32D7B-8964-3182-234A-5D3134FC79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Get your hands dirty</a:t>
            </a:r>
          </a:p>
        </p:txBody>
      </p:sp>
    </p:spTree>
    <p:extLst>
      <p:ext uri="{BB962C8B-B14F-4D97-AF65-F5344CB8AC3E}">
        <p14:creationId xmlns:p14="http://schemas.microsoft.com/office/powerpoint/2010/main" val="4276049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809E12-AEDA-E8C8-34CD-3C0ACBF46B15}"/>
              </a:ext>
            </a:extLst>
          </p:cNvPr>
          <p:cNvSpPr txBox="1"/>
          <p:nvPr/>
        </p:nvSpPr>
        <p:spPr>
          <a:xfrm>
            <a:off x="206747" y="-54864"/>
            <a:ext cx="6894576" cy="17830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latin typeface="+mj-lt"/>
                <a:ea typeface="+mj-ea"/>
                <a:cs typeface="+mj-cs"/>
              </a:rPr>
              <a:t>Goal of this hackathon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C1DD4-BB8D-FEF4-4C44-0CDFC49F3C8A}"/>
              </a:ext>
            </a:extLst>
          </p:cNvPr>
          <p:cNvSpPr txBox="1"/>
          <p:nvPr/>
        </p:nvSpPr>
        <p:spPr>
          <a:xfrm>
            <a:off x="206747" y="2468880"/>
            <a:ext cx="7322780" cy="425387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It is one thing to hear lectures and talk, but a completely different experience of learn while working on a problem them yourself.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This hackathon gets your hand dirty, and provides you with hands-on understanding of physics, chemistry and biochemistry problems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By the end of this hackathon you will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Be confident about trying out large-scale quantum problems on your own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(Potentially) Write a perspective paper as you extend the knowledge base of certain research capability tools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(Depending on how you do) win some IBM Swag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9EDF3D-61F7-4BAF-E178-50E54772B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105" y="329183"/>
            <a:ext cx="2407535" cy="23774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0D96DB-50E9-86D6-B57A-97CCCA244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388" y="3429000"/>
            <a:ext cx="4659425" cy="262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493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73F8E-046A-0917-A792-2AA95D189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867A7B-5A1E-D7A5-B3FC-8FBAB940C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105" y="329183"/>
            <a:ext cx="2407535" cy="23774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41E995-0F6D-6D38-00C1-2AE49795F0F5}"/>
              </a:ext>
            </a:extLst>
          </p:cNvPr>
          <p:cNvSpPr txBox="1"/>
          <p:nvPr/>
        </p:nvSpPr>
        <p:spPr>
          <a:xfrm>
            <a:off x="3431460" y="1258257"/>
            <a:ext cx="5329080" cy="11402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latin typeface="+mj-lt"/>
                <a:ea typeface="+mj-ea"/>
                <a:cs typeface="+mj-cs"/>
              </a:rPr>
              <a:t>Types of problems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4C8811A-6FB5-CBA5-40A7-C6D080171F3A}"/>
              </a:ext>
            </a:extLst>
          </p:cNvPr>
          <p:cNvCxnSpPr/>
          <p:nvPr/>
        </p:nvCxnSpPr>
        <p:spPr>
          <a:xfrm flipH="1">
            <a:off x="2026508" y="2398493"/>
            <a:ext cx="2903838" cy="851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7678A43-FA76-6DD9-1A53-D310F5C1E0B1}"/>
              </a:ext>
            </a:extLst>
          </p:cNvPr>
          <p:cNvCxnSpPr>
            <a:cxnSpLocks/>
          </p:cNvCxnSpPr>
          <p:nvPr/>
        </p:nvCxnSpPr>
        <p:spPr>
          <a:xfrm>
            <a:off x="7442791" y="2398493"/>
            <a:ext cx="2254102" cy="851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D20A64F-2513-6797-C228-591ECF38D421}"/>
              </a:ext>
            </a:extLst>
          </p:cNvPr>
          <p:cNvSpPr txBox="1"/>
          <p:nvPr/>
        </p:nvSpPr>
        <p:spPr>
          <a:xfrm>
            <a:off x="963252" y="3408119"/>
            <a:ext cx="212651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Sample bitstrings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1DC558-028C-AEF0-AFA9-1A063ADFB7CF}"/>
              </a:ext>
            </a:extLst>
          </p:cNvPr>
          <p:cNvSpPr txBox="1"/>
          <p:nvPr/>
        </p:nvSpPr>
        <p:spPr>
          <a:xfrm>
            <a:off x="7996462" y="3408119"/>
            <a:ext cx="3145680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Estimate expectation 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F415A7-1DF3-61C3-61B5-EF5EFA0D1D89}"/>
              </a:ext>
            </a:extLst>
          </p:cNvPr>
          <p:cNvSpPr txBox="1"/>
          <p:nvPr/>
        </p:nvSpPr>
        <p:spPr>
          <a:xfrm>
            <a:off x="904772" y="4178596"/>
            <a:ext cx="224347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Applications in: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Chemistry</a:t>
            </a:r>
          </a:p>
          <a:p>
            <a:pPr marL="285750" indent="-285750">
              <a:buFontTx/>
              <a:buChar char="-"/>
            </a:pPr>
            <a:r>
              <a:rPr lang="en-US" dirty="0"/>
              <a:t>Biochemistry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A2C3B3-AACE-331F-E988-11D742DEA0ED}"/>
              </a:ext>
            </a:extLst>
          </p:cNvPr>
          <p:cNvSpPr txBox="1"/>
          <p:nvPr/>
        </p:nvSpPr>
        <p:spPr>
          <a:xfrm>
            <a:off x="8447567" y="4175769"/>
            <a:ext cx="224347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Applications in: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Physics</a:t>
            </a:r>
          </a:p>
          <a:p>
            <a:pPr marL="285750" indent="-285750">
              <a:buFontTx/>
              <a:buChar char="-"/>
            </a:pPr>
            <a:r>
              <a:rPr lang="en-US" dirty="0"/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981509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8FE232-C850-E265-FA13-EF4ADB35F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2251"/>
          </a:xfrm>
        </p:spPr>
        <p:txBody>
          <a:bodyPr/>
          <a:lstStyle/>
          <a:p>
            <a:r>
              <a:rPr lang="en-US" altLang="ko-KR" dirty="0"/>
              <a:t>Notice for Windows users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3ADCB0-12A7-C8CF-48AA-7BC25010F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739"/>
            <a:ext cx="10515600" cy="47592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For problem set 1-2 (regarding SQD), you need environment for </a:t>
            </a:r>
            <a:r>
              <a:rPr lang="en-US" altLang="ko-KR" sz="2000" b="1" dirty="0" err="1"/>
              <a:t>pyscf</a:t>
            </a:r>
            <a:r>
              <a:rPr lang="en-US" altLang="ko-KR" sz="2000" b="1" dirty="0"/>
              <a:t>.</a:t>
            </a:r>
          </a:p>
          <a:p>
            <a:pPr marL="0" indent="0">
              <a:buNone/>
            </a:pPr>
            <a:endParaRPr lang="en-US" altLang="ko-KR" sz="2000" b="1" dirty="0"/>
          </a:p>
          <a:p>
            <a:pPr marL="0" indent="0">
              <a:buNone/>
            </a:pPr>
            <a:r>
              <a:rPr lang="en-US" altLang="ko-KR" sz="2000" dirty="0"/>
              <a:t>For windows user, follow the instructions in 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to construct </a:t>
            </a:r>
            <a:r>
              <a:rPr lang="en-US" altLang="ko-KR" sz="2000" dirty="0" err="1"/>
              <a:t>wsl+pyscf</a:t>
            </a:r>
            <a:r>
              <a:rPr lang="en-US" altLang="ko-KR" sz="2000" dirty="0"/>
              <a:t> environment.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B0704-E7E9-137D-B62E-68D8B6BE480A}"/>
              </a:ext>
            </a:extLst>
          </p:cNvPr>
          <p:cNvSpPr txBox="1"/>
          <p:nvPr/>
        </p:nvSpPr>
        <p:spPr>
          <a:xfrm>
            <a:off x="3047651" y="2921358"/>
            <a:ext cx="60966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 dirty="0"/>
              <a:t>wsl_pyscf_windows_setup_v1.md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20F598A-B9B5-7A53-3C97-1CB6CBC12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075" y="4425382"/>
            <a:ext cx="4381850" cy="1882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A9C23D-74D1-C265-D304-8DD2D28DA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0105" y="329183"/>
            <a:ext cx="2407535" cy="237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864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2B27F-FA17-D163-E75D-FB266E73E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32D36D-F97D-FB3D-F89A-A1573EB27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105" y="329183"/>
            <a:ext cx="2407535" cy="23774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A98457-6808-45AB-D967-D0C89479AE2D}"/>
              </a:ext>
            </a:extLst>
          </p:cNvPr>
          <p:cNvSpPr txBox="1"/>
          <p:nvPr/>
        </p:nvSpPr>
        <p:spPr>
          <a:xfrm>
            <a:off x="252325" y="223755"/>
            <a:ext cx="5329080" cy="114023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dirty="0">
                <a:latin typeface="+mj-lt"/>
                <a:ea typeface="+mj-ea"/>
                <a:cs typeface="+mj-cs"/>
              </a:rPr>
              <a:t>Problem type: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sample bitstrings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F8B1BC5-2A4B-2B3A-AD47-9C8861C07472}"/>
              </a:ext>
            </a:extLst>
          </p:cNvPr>
          <p:cNvSpPr txBox="1">
            <a:spLocks/>
          </p:cNvSpPr>
          <p:nvPr/>
        </p:nvSpPr>
        <p:spPr>
          <a:xfrm>
            <a:off x="-738377" y="1176191"/>
            <a:ext cx="10515600" cy="10022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b="1" dirty="0"/>
              <a:t>Problem set 1:</a:t>
            </a:r>
            <a:r>
              <a:rPr lang="en-US" altLang="ko-KR" sz="3600" dirty="0"/>
              <a:t> Applying SQD for H</a:t>
            </a:r>
            <a:r>
              <a:rPr lang="en-US" altLang="ko-KR" sz="3600" baseline="-25000" dirty="0"/>
              <a:t>2</a:t>
            </a:r>
            <a:r>
              <a:rPr lang="en-US" altLang="ko-KR" sz="3600" dirty="0"/>
              <a:t>O stretch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8C0826-7447-049A-E637-87B7BDAA6528}"/>
              </a:ext>
            </a:extLst>
          </p:cNvPr>
          <p:cNvSpPr txBox="1">
            <a:spLocks/>
          </p:cNvSpPr>
          <p:nvPr/>
        </p:nvSpPr>
        <p:spPr>
          <a:xfrm>
            <a:off x="252325" y="2339765"/>
            <a:ext cx="11070264" cy="4679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2000" dirty="0"/>
              <a:t> Apply SQD method to estimate the ground state energy of water molecule.</a:t>
            </a:r>
          </a:p>
          <a:p>
            <a:pPr algn="l"/>
            <a:endParaRPr lang="en-US" altLang="ko-KR" sz="2000" dirty="0"/>
          </a:p>
          <a:p>
            <a:pPr algn="l"/>
            <a:r>
              <a:rPr lang="en-US" altLang="ko-KR" sz="2000" dirty="0"/>
              <a:t> Let’s see how the results change for the heavy-hex-based and square-lattice-based LUCJ ansatz.</a:t>
            </a:r>
            <a:endParaRPr lang="ko-KR" altLang="en-US" sz="2000" dirty="0"/>
          </a:p>
        </p:txBody>
      </p:sp>
      <p:pic>
        <p:nvPicPr>
          <p:cNvPr id="5" name="그림 13">
            <a:extLst>
              <a:ext uri="{FF2B5EF4-FFF2-40B4-BE49-F238E27FC236}">
                <a16:creationId xmlns:a16="http://schemas.microsoft.com/office/drawing/2014/main" id="{A4605BA8-A3AD-73B6-B0DB-0919A8123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50" y="4374040"/>
            <a:ext cx="5958978" cy="1201156"/>
          </a:xfrm>
          <a:prstGeom prst="rect">
            <a:avLst/>
          </a:prstGeom>
        </p:spPr>
      </p:pic>
      <p:pic>
        <p:nvPicPr>
          <p:cNvPr id="6" name="그림 15">
            <a:extLst>
              <a:ext uri="{FF2B5EF4-FFF2-40B4-BE49-F238E27FC236}">
                <a16:creationId xmlns:a16="http://schemas.microsoft.com/office/drawing/2014/main" id="{C473EE88-7A8D-EB0C-890F-5DBCE4D61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156" y="3793168"/>
            <a:ext cx="3383560" cy="23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580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E5194-5FB6-A685-DD4A-F538BE78E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08106-7766-EBA8-70C1-6ECA2C132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41" y="328207"/>
            <a:ext cx="10515600" cy="1002281"/>
          </a:xfrm>
        </p:spPr>
        <p:txBody>
          <a:bodyPr>
            <a:noAutofit/>
          </a:bodyPr>
          <a:lstStyle/>
          <a:p>
            <a:r>
              <a:rPr lang="en-US" altLang="ko-KR" sz="3600" b="1" dirty="0"/>
              <a:t>Problem set 2:</a:t>
            </a:r>
            <a:r>
              <a:rPr lang="en-US" altLang="ko-KR" sz="3600" dirty="0"/>
              <a:t> SQD for </a:t>
            </a:r>
            <a:r>
              <a:rPr lang="en-US" altLang="ko-KR" sz="3600" dirty="0" err="1"/>
              <a:t>Polyacene</a:t>
            </a:r>
            <a:r>
              <a:rPr lang="en-US" altLang="ko-KR" sz="3600" dirty="0"/>
              <a:t> molecules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66B53B-2E51-CB15-206D-EA6A863D7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041" y="1497435"/>
            <a:ext cx="10515600" cy="4679528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 Apply SQD method to approximated model for </a:t>
            </a:r>
            <a:r>
              <a:rPr lang="en-US" altLang="ko-KR" sz="2000" dirty="0" err="1"/>
              <a:t>polyacene</a:t>
            </a:r>
            <a:r>
              <a:rPr lang="en-US" altLang="ko-KR" sz="2000" dirty="0"/>
              <a:t> molecule;</a:t>
            </a:r>
            <a:r>
              <a:rPr lang="en-US" altLang="ko-KR" sz="2000" b="1" dirty="0"/>
              <a:t> PPP model</a:t>
            </a:r>
          </a:p>
          <a:p>
            <a:endParaRPr lang="en-US" altLang="ko-KR" sz="2000" dirty="0"/>
          </a:p>
          <a:p>
            <a:r>
              <a:rPr lang="en-US" altLang="ko-KR" sz="2000" dirty="0"/>
              <a:t> Let’s learn how the orbital optimization achieves the advantages in the sampling.</a:t>
            </a:r>
            <a:endParaRPr lang="ko-KR" altLang="en-US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0857E50-CB1B-D102-EE01-5EBBFB623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567" y="2610694"/>
            <a:ext cx="6126866" cy="177550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2462D8E-0423-45FA-EEE7-D8E5E1CA04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493" y="4637169"/>
            <a:ext cx="6126866" cy="1892624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D0C7F17-2F14-2481-73CB-2576BE7279F7}"/>
              </a:ext>
            </a:extLst>
          </p:cNvPr>
          <p:cNvSpPr/>
          <p:nvPr/>
        </p:nvSpPr>
        <p:spPr>
          <a:xfrm>
            <a:off x="7695236" y="2759960"/>
            <a:ext cx="1464197" cy="1599012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68402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BFC60-5211-EC50-DF35-D0E9D53AA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26C739-336C-1223-3BD4-BA97EA53E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105" y="329183"/>
            <a:ext cx="2407535" cy="23774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DF72A1-64E0-8513-1B0B-AC499376D695}"/>
              </a:ext>
            </a:extLst>
          </p:cNvPr>
          <p:cNvSpPr txBox="1"/>
          <p:nvPr/>
        </p:nvSpPr>
        <p:spPr>
          <a:xfrm>
            <a:off x="252324" y="223755"/>
            <a:ext cx="5499889" cy="114023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latin typeface="+mj-lt"/>
                <a:ea typeface="+mj-ea"/>
                <a:cs typeface="+mj-cs"/>
              </a:rPr>
              <a:t>Problem type: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estimate expectation values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059BC7-1A02-F66C-5732-ACB4B5EBF758}"/>
                  </a:ext>
                </a:extLst>
              </p:cNvPr>
              <p:cNvSpPr txBox="1"/>
              <p:nvPr/>
            </p:nvSpPr>
            <p:spPr>
              <a:xfrm>
                <a:off x="393404" y="1945758"/>
                <a:ext cx="7145079" cy="631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Schrodinger equation: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ℏ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059BC7-1A02-F66C-5732-ACB4B5EB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404" y="1945758"/>
                <a:ext cx="7145079" cy="631455"/>
              </a:xfrm>
              <a:prstGeom prst="rect">
                <a:avLst/>
              </a:prstGeom>
              <a:blipFill>
                <a:blip r:embed="rId3"/>
                <a:stretch>
                  <a:fillRect l="-1421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3C5850A7-3A50-F733-AE0A-01A22FBC771B}"/>
              </a:ext>
            </a:extLst>
          </p:cNvPr>
          <p:cNvCxnSpPr>
            <a:cxnSpLocks/>
          </p:cNvCxnSpPr>
          <p:nvPr/>
        </p:nvCxnSpPr>
        <p:spPr>
          <a:xfrm>
            <a:off x="4572000" y="2466752"/>
            <a:ext cx="1297172" cy="808079"/>
          </a:xfrm>
          <a:prstGeom prst="bentConnector3">
            <a:avLst>
              <a:gd name="adj1" fmla="val 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FAAD8EC-BD6A-6605-9F04-7CBA513A6715}"/>
              </a:ext>
            </a:extLst>
          </p:cNvPr>
          <p:cNvSpPr txBox="1"/>
          <p:nvPr/>
        </p:nvSpPr>
        <p:spPr>
          <a:xfrm>
            <a:off x="5954233" y="2977116"/>
            <a:ext cx="3923414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Can come from: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Condensed matter physics</a:t>
            </a:r>
          </a:p>
          <a:p>
            <a:pPr marL="285750" indent="-285750">
              <a:buFontTx/>
              <a:buChar char="-"/>
            </a:pPr>
            <a:r>
              <a:rPr lang="en-US" dirty="0"/>
              <a:t>Many-body physics</a:t>
            </a:r>
          </a:p>
          <a:p>
            <a:pPr marL="285750" indent="-285750">
              <a:buFontTx/>
              <a:buChar char="-"/>
            </a:pPr>
            <a:r>
              <a:rPr lang="en-US" dirty="0"/>
              <a:t>High energy physics</a:t>
            </a:r>
          </a:p>
          <a:p>
            <a:pPr marL="285750" indent="-285750">
              <a:buFontTx/>
              <a:buChar char="-"/>
            </a:pP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63687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8AD21-F1E6-08B1-63EB-85939C48C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9CE157-BD13-4996-038C-F24EF3D6F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105" y="329183"/>
            <a:ext cx="2407535" cy="23774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EE4CB4-FCC4-29DF-B64B-ECBCC184DC6C}"/>
              </a:ext>
            </a:extLst>
          </p:cNvPr>
          <p:cNvSpPr txBox="1"/>
          <p:nvPr/>
        </p:nvSpPr>
        <p:spPr>
          <a:xfrm>
            <a:off x="252324" y="223755"/>
            <a:ext cx="5499889" cy="114023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latin typeface="+mj-lt"/>
                <a:ea typeface="+mj-ea"/>
                <a:cs typeface="+mj-cs"/>
              </a:rPr>
              <a:t>Problem type: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estimate expectation values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0B426D-1518-7F1C-38F4-641BD3ACD600}"/>
              </a:ext>
            </a:extLst>
          </p:cNvPr>
          <p:cNvSpPr txBox="1"/>
          <p:nvPr/>
        </p:nvSpPr>
        <p:spPr>
          <a:xfrm>
            <a:off x="252324" y="1967024"/>
            <a:ext cx="4306186" cy="31700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Basic: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a 1D Hamiltonian simulation problem on a quantum computer via </a:t>
            </a:r>
            <a:r>
              <a:rPr lang="en-US" dirty="0" err="1"/>
              <a:t>trotterization</a:t>
            </a:r>
            <a:r>
              <a:rPr lang="en-US" dirty="0"/>
              <a:t> (breaking up the time of evolution into multiple smaller steps)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 how a 1D system, where some or all sites are initially filled, evolve over time and compute the probability of occupancy over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9F793-01A5-88E0-C6C0-E707A66D8044}"/>
              </a:ext>
            </a:extLst>
          </p:cNvPr>
          <p:cNvSpPr txBox="1"/>
          <p:nvPr/>
        </p:nvSpPr>
        <p:spPr>
          <a:xfrm>
            <a:off x="4726214" y="3187147"/>
            <a:ext cx="4306186" cy="34470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Intermediate: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a 1D Hamiltonian simulation problem on a quantum computer via </a:t>
            </a:r>
            <a:r>
              <a:rPr lang="en-US" dirty="0" err="1"/>
              <a:t>trotterization</a:t>
            </a:r>
            <a:r>
              <a:rPr lang="en-US" dirty="0"/>
              <a:t> (breaking up the time of evolution into multiple smaller steps)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AQC tensor </a:t>
            </a:r>
            <a:r>
              <a:rPr lang="en-US" dirty="0"/>
              <a:t>or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OBP</a:t>
            </a:r>
            <a:r>
              <a:rPr lang="en-US" dirty="0"/>
              <a:t> to test whether a given Hamiltonian circuit can be easily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compressed by tensor network</a:t>
            </a:r>
            <a:r>
              <a:rPr lang="en-US" dirty="0"/>
              <a:t>, easily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backpropagated and computed classically</a:t>
            </a:r>
          </a:p>
        </p:txBody>
      </p:sp>
    </p:spTree>
    <p:extLst>
      <p:ext uri="{BB962C8B-B14F-4D97-AF65-F5344CB8AC3E}">
        <p14:creationId xmlns:p14="http://schemas.microsoft.com/office/powerpoint/2010/main" val="1907216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103AF-B488-5742-3335-76F297B4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03C0-A4D2-EC5A-9CC7-CBD24DF1D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51" y="104045"/>
            <a:ext cx="7433335" cy="953294"/>
          </a:xfrm>
        </p:spPr>
        <p:txBody>
          <a:bodyPr>
            <a:normAutofit fontScale="90000"/>
          </a:bodyPr>
          <a:lstStyle/>
          <a:p>
            <a:r>
              <a:rPr lang="en-US" sz="3200" kern="1200" dirty="0">
                <a:solidFill>
                  <a:srgbClr val="1161FF"/>
                </a:solidFill>
                <a:latin typeface="IBM Plex Sans Light" panose="020B0403050203000203" pitchFamily="34" charset="0"/>
                <a:ea typeface="+mn-ea"/>
                <a:cs typeface="+mn-cs"/>
              </a:rPr>
              <a:t>Approximate quantum compilation (AQC)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27FF9-BFC5-30BB-0331-5AE3F38B39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4859" y="1208361"/>
            <a:ext cx="6718618" cy="4232777"/>
          </a:xfrm>
        </p:spPr>
        <p:txBody>
          <a:bodyPr lIns="0" tIns="0" rIns="0" bIns="0" anchor="t">
            <a:normAutofit/>
          </a:bodyPr>
          <a:lstStyle/>
          <a:p>
            <a:r>
              <a:rPr lang="en-US" sz="1800" i="1" dirty="0">
                <a:ea typeface="+mj-lt"/>
                <a:cs typeface="+mj-lt"/>
              </a:rPr>
              <a:t>Many problems require calculating the time evolution of a Hamiltonian. The time evolution is approximated by trotter circuits</a:t>
            </a:r>
          </a:p>
          <a:p>
            <a:endParaRPr lang="en-US" sz="1800" i="1" dirty="0">
              <a:ea typeface="+mj-lt"/>
              <a:cs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i="1" dirty="0">
                <a:ea typeface="+mj-lt"/>
                <a:cs typeface="+mj-lt"/>
              </a:rPr>
              <a:t>higher the trotter steps, better is the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i="1" dirty="0">
              <a:ea typeface="+mj-lt"/>
              <a:cs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i="1" dirty="0">
                <a:ea typeface="+mj-lt"/>
                <a:cs typeface="+mj-lt"/>
              </a:rPr>
              <a:t>higher the trotter steps, more is the circuit depth, hence noise</a:t>
            </a:r>
          </a:p>
          <a:p>
            <a:endParaRPr lang="en-US" sz="1800" i="1" dirty="0">
              <a:ea typeface="+mj-lt"/>
              <a:cs typeface="+mj-lt"/>
            </a:endParaRPr>
          </a:p>
          <a:p>
            <a:r>
              <a:rPr lang="en-US" sz="1800" i="1" dirty="0">
                <a:ea typeface="+mj-lt"/>
                <a:cs typeface="+mj-lt"/>
              </a:rPr>
              <a:t>AQC used tensor network method to compress initial </a:t>
            </a:r>
            <a:r>
              <a:rPr lang="en-US" sz="1800" i="1" u="sng" dirty="0">
                <a:ea typeface="+mj-lt"/>
                <a:cs typeface="+mj-lt"/>
              </a:rPr>
              <a:t>few</a:t>
            </a:r>
            <a:r>
              <a:rPr lang="en-US" sz="1800" i="1" dirty="0">
                <a:ea typeface="+mj-lt"/>
                <a:cs typeface="+mj-lt"/>
              </a:rPr>
              <a:t> trotter steps of the circuit. The final circuit that is computed on the hardware contains the compressed circuit composed with the subsequent trotter steps.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E66679-DC14-361F-92E8-87609B0995F7}"/>
              </a:ext>
            </a:extLst>
          </p:cNvPr>
          <p:cNvSpPr txBox="1"/>
          <p:nvPr/>
        </p:nvSpPr>
        <p:spPr>
          <a:xfrm>
            <a:off x="7006617" y="922605"/>
            <a:ext cx="1677458" cy="27699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 defTabSz="1218956">
              <a:spcBef>
                <a:spcPts val="1450"/>
              </a:spcBef>
              <a:buSzPct val="100000"/>
            </a:pPr>
            <a:r>
              <a:rPr lang="en-US" b="1" dirty="0">
                <a:latin typeface="IBM Plex Sans" panose="020B0503050203000203" pitchFamily="34" charset="0"/>
              </a:rPr>
              <a:t>Map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D9429C-8934-67B1-3FF3-9E95B85E0C60}"/>
              </a:ext>
            </a:extLst>
          </p:cNvPr>
          <p:cNvSpPr txBox="1"/>
          <p:nvPr/>
        </p:nvSpPr>
        <p:spPr>
          <a:xfrm>
            <a:off x="7006617" y="2302151"/>
            <a:ext cx="1677458" cy="27699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 defTabSz="1218956">
              <a:spcBef>
                <a:spcPts val="1450"/>
              </a:spcBef>
              <a:buSzPct val="100000"/>
            </a:pPr>
            <a:r>
              <a:rPr lang="en-US" b="1" dirty="0">
                <a:latin typeface="IBM Plex Sans" panose="020B0503050203000203" pitchFamily="34" charset="0"/>
              </a:rPr>
              <a:t>Optimize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E04FBC-526A-2F4F-9891-E773AB922FBD}"/>
              </a:ext>
            </a:extLst>
          </p:cNvPr>
          <p:cNvSpPr txBox="1"/>
          <p:nvPr/>
        </p:nvSpPr>
        <p:spPr>
          <a:xfrm>
            <a:off x="7006617" y="3588342"/>
            <a:ext cx="1677458" cy="27699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 defTabSz="1218956">
              <a:spcBef>
                <a:spcPts val="1450"/>
              </a:spcBef>
              <a:buSzPct val="100000"/>
            </a:pPr>
            <a:r>
              <a:rPr lang="en-US" b="1" dirty="0">
                <a:latin typeface="IBM Plex Sans" panose="020B0503050203000203" pitchFamily="34" charset="0"/>
              </a:rPr>
              <a:t>Execute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97084AC-3DD5-2F1A-6658-C318B44A5A73}"/>
              </a:ext>
            </a:extLst>
          </p:cNvPr>
          <p:cNvSpPr/>
          <p:nvPr/>
        </p:nvSpPr>
        <p:spPr bwMode="auto">
          <a:xfrm>
            <a:off x="8972708" y="718542"/>
            <a:ext cx="2286779" cy="645168"/>
          </a:xfrm>
          <a:prstGeom prst="roundRect">
            <a:avLst>
              <a:gd name="adj" fmla="val 33200"/>
            </a:avLst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defTabSz="457109" fontAlgn="base">
              <a:spcBef>
                <a:spcPct val="0"/>
              </a:spcBef>
              <a:spcAft>
                <a:spcPct val="0"/>
              </a:spcAft>
            </a:pPr>
            <a:endParaRPr lang="en-US" sz="700" dirty="0">
              <a:solidFill>
                <a:srgbClr val="FFFFFF"/>
              </a:solidFill>
              <a:latin typeface="IBM Plex Sans Ligh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CA0017-0AB0-7A69-4F82-25B65E413C6D}"/>
              </a:ext>
            </a:extLst>
          </p:cNvPr>
          <p:cNvSpPr txBox="1"/>
          <p:nvPr/>
        </p:nvSpPr>
        <p:spPr>
          <a:xfrm>
            <a:off x="9081642" y="906005"/>
            <a:ext cx="1891398" cy="24622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218956">
              <a:spcBef>
                <a:spcPts val="1450"/>
              </a:spcBef>
            </a:pPr>
            <a:r>
              <a:rPr lang="en-US" sz="1600" b="1" kern="0" dirty="0">
                <a:solidFill>
                  <a:srgbClr val="A56EFF"/>
                </a:solidFill>
                <a:latin typeface="IBM Plex Sans Light"/>
              </a:rPr>
              <a:t>AQC – preprocess</a:t>
            </a:r>
            <a:endParaRPr lang="en-US" sz="2000" b="1" dirty="0">
              <a:solidFill>
                <a:srgbClr val="A56EFF"/>
              </a:solidFill>
              <a:latin typeface="IBM Plex Sans Light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F6C11A2-FBE8-CF7E-9EA1-3A91A01B6545}"/>
              </a:ext>
            </a:extLst>
          </p:cNvPr>
          <p:cNvSpPr/>
          <p:nvPr/>
        </p:nvSpPr>
        <p:spPr bwMode="auto">
          <a:xfrm>
            <a:off x="8959534" y="2079281"/>
            <a:ext cx="2286779" cy="645168"/>
          </a:xfrm>
          <a:prstGeom prst="roundRect">
            <a:avLst>
              <a:gd name="adj" fmla="val 33200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defTabSz="457109" fontAlgn="base">
              <a:spcBef>
                <a:spcPct val="0"/>
              </a:spcBef>
              <a:spcAft>
                <a:spcPct val="0"/>
              </a:spcAft>
            </a:pPr>
            <a:endParaRPr lang="en-US" sz="700" dirty="0">
              <a:solidFill>
                <a:srgbClr val="FFFFFF"/>
              </a:solidFill>
              <a:latin typeface="IBM Plex Sans Ligh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DCD0D3-9595-CE63-2DE1-D19B6ACC2304}"/>
              </a:ext>
            </a:extLst>
          </p:cNvPr>
          <p:cNvSpPr txBox="1"/>
          <p:nvPr/>
        </p:nvSpPr>
        <p:spPr>
          <a:xfrm>
            <a:off x="9066213" y="2294157"/>
            <a:ext cx="1891398" cy="24622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218956">
              <a:spcBef>
                <a:spcPts val="1450"/>
              </a:spcBef>
            </a:pPr>
            <a:r>
              <a:rPr lang="en-US" sz="1600" b="1" kern="0" dirty="0" err="1">
                <a:solidFill>
                  <a:srgbClr val="000000"/>
                </a:solidFill>
                <a:latin typeface="IBM Plex Sans Light"/>
              </a:rPr>
              <a:t>Transpile</a:t>
            </a:r>
            <a:r>
              <a:rPr lang="en-US" sz="1600" b="1" kern="0" dirty="0">
                <a:solidFill>
                  <a:srgbClr val="000000"/>
                </a:solidFill>
                <a:latin typeface="IBM Plex Sans Light"/>
              </a:rPr>
              <a:t> circuit</a:t>
            </a:r>
            <a:endParaRPr lang="en-US" sz="2000" b="1" dirty="0">
              <a:solidFill>
                <a:srgbClr val="000000"/>
              </a:solidFill>
              <a:latin typeface="IBM Plex Sans Light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3E611F8A-4CB5-280A-97A6-AE62B4D7A9A7}"/>
              </a:ext>
            </a:extLst>
          </p:cNvPr>
          <p:cNvSpPr/>
          <p:nvPr/>
        </p:nvSpPr>
        <p:spPr bwMode="auto">
          <a:xfrm>
            <a:off x="8972708" y="3399435"/>
            <a:ext cx="2286779" cy="645168"/>
          </a:xfrm>
          <a:prstGeom prst="roundRect">
            <a:avLst>
              <a:gd name="adj" fmla="val 33200"/>
            </a:avLst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defTabSz="457109" fontAlgn="base">
              <a:spcBef>
                <a:spcPct val="0"/>
              </a:spcBef>
              <a:spcAft>
                <a:spcPct val="0"/>
              </a:spcAft>
            </a:pPr>
            <a:endParaRPr lang="en-US" sz="700" dirty="0">
              <a:solidFill>
                <a:srgbClr val="FFFFFF"/>
              </a:solidFill>
              <a:latin typeface="IBM Plex Sans Light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7E6BB5-6E87-1263-07AF-A4D57F1100DC}"/>
              </a:ext>
            </a:extLst>
          </p:cNvPr>
          <p:cNvSpPr txBox="1"/>
          <p:nvPr/>
        </p:nvSpPr>
        <p:spPr>
          <a:xfrm>
            <a:off x="9079387" y="3614311"/>
            <a:ext cx="1891398" cy="24622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218956">
              <a:spcBef>
                <a:spcPts val="1450"/>
              </a:spcBef>
            </a:pPr>
            <a:r>
              <a:rPr lang="en-US" sz="1600" b="1" kern="0" dirty="0">
                <a:solidFill>
                  <a:srgbClr val="000000"/>
                </a:solidFill>
                <a:latin typeface="IBM Plex Sans Light"/>
              </a:rPr>
              <a:t>Estimator Primitive</a:t>
            </a:r>
            <a:endParaRPr lang="en-US" sz="2000" b="1" dirty="0">
              <a:solidFill>
                <a:srgbClr val="000000"/>
              </a:solidFill>
              <a:latin typeface="IBM Plex Sans Light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F40D34C-620C-E664-CFC1-A10101688A1B}"/>
              </a:ext>
            </a:extLst>
          </p:cNvPr>
          <p:cNvCxnSpPr>
            <a:cxnSpLocks/>
          </p:cNvCxnSpPr>
          <p:nvPr/>
        </p:nvCxnSpPr>
        <p:spPr bwMode="auto">
          <a:xfrm>
            <a:off x="9323749" y="1459950"/>
            <a:ext cx="0" cy="309398"/>
          </a:xfrm>
          <a:prstGeom prst="straightConnector1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E781E2D-38FE-C9D8-140A-71B675834C0A}"/>
              </a:ext>
            </a:extLst>
          </p:cNvPr>
          <p:cNvSpPr txBox="1"/>
          <p:nvPr/>
        </p:nvSpPr>
        <p:spPr>
          <a:xfrm>
            <a:off x="9438686" y="1435395"/>
            <a:ext cx="1732030" cy="369332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218956">
              <a:spcBef>
                <a:spcPts val="1450"/>
              </a:spcBef>
            </a:pPr>
            <a:r>
              <a:rPr lang="en-US" sz="1200" kern="0" dirty="0">
                <a:solidFill>
                  <a:srgbClr val="9865ED"/>
                </a:solidFill>
                <a:latin typeface="IBM Plex Sans Light"/>
              </a:rPr>
              <a:t>compressed circuits, observable</a:t>
            </a:r>
            <a:endParaRPr lang="en-US" sz="1600" dirty="0">
              <a:solidFill>
                <a:srgbClr val="9865ED"/>
              </a:solidFill>
              <a:latin typeface="IBM Plex Sans Ligh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79D949C-3D0E-B35A-303E-3986131BD37A}"/>
              </a:ext>
            </a:extLst>
          </p:cNvPr>
          <p:cNvSpPr txBox="1"/>
          <p:nvPr/>
        </p:nvSpPr>
        <p:spPr>
          <a:xfrm>
            <a:off x="9429186" y="2770903"/>
            <a:ext cx="2125945" cy="369332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218956">
              <a:spcBef>
                <a:spcPts val="1450"/>
              </a:spcBef>
            </a:pPr>
            <a:r>
              <a:rPr lang="en-US" sz="1200" kern="0" dirty="0">
                <a:solidFill>
                  <a:srgbClr val="000000"/>
                </a:solidFill>
                <a:latin typeface="IBM Plex Sans Light"/>
              </a:rPr>
              <a:t>compressed ISA circuits, observable</a:t>
            </a:r>
            <a:endParaRPr lang="en-US" sz="1600" dirty="0">
              <a:solidFill>
                <a:srgbClr val="000000"/>
              </a:solidFill>
              <a:latin typeface="IBM Plex Sans Light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A42B639-BFC6-F62A-C4F1-37A321C4C691}"/>
              </a:ext>
            </a:extLst>
          </p:cNvPr>
          <p:cNvCxnSpPr>
            <a:cxnSpLocks/>
          </p:cNvCxnSpPr>
          <p:nvPr/>
        </p:nvCxnSpPr>
        <p:spPr bwMode="auto">
          <a:xfrm>
            <a:off x="9323749" y="4134516"/>
            <a:ext cx="0" cy="23701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96850EF-E5C5-8FF6-BBFE-03C74E1732BF}"/>
              </a:ext>
            </a:extLst>
          </p:cNvPr>
          <p:cNvSpPr txBox="1"/>
          <p:nvPr/>
        </p:nvSpPr>
        <p:spPr>
          <a:xfrm>
            <a:off x="9430671" y="4193337"/>
            <a:ext cx="2051789" cy="184666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218956">
              <a:spcBef>
                <a:spcPts val="1450"/>
              </a:spcBef>
            </a:pPr>
            <a:r>
              <a:rPr lang="en-US" sz="1200" kern="0" dirty="0">
                <a:solidFill>
                  <a:srgbClr val="000000"/>
                </a:solidFill>
                <a:latin typeface="IBM Plex Sans Light"/>
              </a:rPr>
              <a:t>expectation values</a:t>
            </a:r>
            <a:endParaRPr lang="en-US" sz="1600" dirty="0">
              <a:solidFill>
                <a:srgbClr val="000000"/>
              </a:solidFill>
              <a:latin typeface="IBM Plex Sans Light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5ACE15B-C58F-7E7D-3C95-2EB0C369CCE7}"/>
              </a:ext>
            </a:extLst>
          </p:cNvPr>
          <p:cNvCxnSpPr>
            <a:cxnSpLocks/>
          </p:cNvCxnSpPr>
          <p:nvPr/>
        </p:nvCxnSpPr>
        <p:spPr bwMode="auto">
          <a:xfrm>
            <a:off x="9323749" y="391391"/>
            <a:ext cx="0" cy="21986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3B25E2E-436B-6712-AE1A-148F0D028AFA}"/>
              </a:ext>
            </a:extLst>
          </p:cNvPr>
          <p:cNvSpPr txBox="1"/>
          <p:nvPr/>
        </p:nvSpPr>
        <p:spPr>
          <a:xfrm>
            <a:off x="9430672" y="305837"/>
            <a:ext cx="1732030" cy="184666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218956">
              <a:spcBef>
                <a:spcPts val="1450"/>
              </a:spcBef>
            </a:pPr>
            <a:r>
              <a:rPr lang="en-US" sz="1200" kern="0" dirty="0">
                <a:solidFill>
                  <a:srgbClr val="000000"/>
                </a:solidFill>
                <a:latin typeface="IBM Plex Sans Light"/>
              </a:rPr>
              <a:t>domain inputs</a:t>
            </a:r>
            <a:endParaRPr lang="en-US" sz="1600" dirty="0">
              <a:solidFill>
                <a:srgbClr val="000000"/>
              </a:solidFill>
              <a:latin typeface="IBM Plex Sans Light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8E6F9E0-C216-37CB-425A-A324B467C095}"/>
              </a:ext>
            </a:extLst>
          </p:cNvPr>
          <p:cNvCxnSpPr>
            <a:cxnSpLocks/>
          </p:cNvCxnSpPr>
          <p:nvPr/>
        </p:nvCxnSpPr>
        <p:spPr bwMode="auto">
          <a:xfrm>
            <a:off x="9323749" y="2790950"/>
            <a:ext cx="0" cy="26152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D23D990-13C9-8A8B-F9C0-C437A9DE2684}"/>
              </a:ext>
            </a:extLst>
          </p:cNvPr>
          <p:cNvCxnSpPr>
            <a:cxnSpLocks/>
          </p:cNvCxnSpPr>
          <p:nvPr/>
        </p:nvCxnSpPr>
        <p:spPr bwMode="auto">
          <a:xfrm>
            <a:off x="7242939" y="1874276"/>
            <a:ext cx="4404418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87B930F-C18E-BC91-7E50-055CCAE127F8}"/>
              </a:ext>
            </a:extLst>
          </p:cNvPr>
          <p:cNvCxnSpPr>
            <a:cxnSpLocks/>
          </p:cNvCxnSpPr>
          <p:nvPr/>
        </p:nvCxnSpPr>
        <p:spPr bwMode="auto">
          <a:xfrm>
            <a:off x="7242939" y="3178029"/>
            <a:ext cx="4404418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88B223C7-0FD5-586C-C08B-9AC620B6BF16}"/>
              </a:ext>
            </a:extLst>
          </p:cNvPr>
          <p:cNvSpPr txBox="1"/>
          <p:nvPr/>
        </p:nvSpPr>
        <p:spPr>
          <a:xfrm>
            <a:off x="7006617" y="4934322"/>
            <a:ext cx="1677458" cy="27699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 defTabSz="1218956">
              <a:spcBef>
                <a:spcPts val="1450"/>
              </a:spcBef>
              <a:buSzPct val="100000"/>
            </a:pPr>
            <a:r>
              <a:rPr lang="en-US" b="1" dirty="0">
                <a:latin typeface="IBM Plex Sans" panose="020B0503050203000203" pitchFamily="34" charset="0"/>
              </a:rPr>
              <a:t>Postprocess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505F8928-8CA4-2FEF-4CD5-96D65CFAD669}"/>
              </a:ext>
            </a:extLst>
          </p:cNvPr>
          <p:cNvSpPr/>
          <p:nvPr/>
        </p:nvSpPr>
        <p:spPr bwMode="auto">
          <a:xfrm>
            <a:off x="8972708" y="4745415"/>
            <a:ext cx="2286779" cy="645168"/>
          </a:xfrm>
          <a:prstGeom prst="roundRect">
            <a:avLst>
              <a:gd name="adj" fmla="val 33200"/>
            </a:avLst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defTabSz="457109" fontAlgn="base">
              <a:spcBef>
                <a:spcPct val="0"/>
              </a:spcBef>
              <a:spcAft>
                <a:spcPct val="0"/>
              </a:spcAft>
            </a:pPr>
            <a:endParaRPr lang="en-US" sz="700" dirty="0">
              <a:solidFill>
                <a:srgbClr val="FFFFFF"/>
              </a:solidFill>
              <a:latin typeface="IBM Plex Sans Ligh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44FBD1-8024-359E-5C92-A692951233B0}"/>
              </a:ext>
            </a:extLst>
          </p:cNvPr>
          <p:cNvSpPr txBox="1"/>
          <p:nvPr/>
        </p:nvSpPr>
        <p:spPr>
          <a:xfrm>
            <a:off x="9157224" y="4961105"/>
            <a:ext cx="1891398" cy="24622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218956">
              <a:spcBef>
                <a:spcPts val="1450"/>
              </a:spcBef>
            </a:pPr>
            <a:r>
              <a:rPr lang="en-US" sz="1600" b="1" kern="0" dirty="0">
                <a:solidFill>
                  <a:srgbClr val="000000"/>
                </a:solidFill>
                <a:latin typeface="IBM Plex Sans Light"/>
              </a:rPr>
              <a:t>postprocess</a:t>
            </a:r>
            <a:endParaRPr lang="en-US" sz="2000" b="1" dirty="0">
              <a:solidFill>
                <a:srgbClr val="000000"/>
              </a:solidFill>
              <a:latin typeface="IBM Plex Sans Light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C23C0EB-2AF6-67BE-E3AD-8116A04C273D}"/>
              </a:ext>
            </a:extLst>
          </p:cNvPr>
          <p:cNvCxnSpPr>
            <a:cxnSpLocks/>
          </p:cNvCxnSpPr>
          <p:nvPr/>
        </p:nvCxnSpPr>
        <p:spPr bwMode="auto">
          <a:xfrm>
            <a:off x="9323749" y="5480496"/>
            <a:ext cx="0" cy="237012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666F692-1F51-EE75-939C-6C5DCD5B9A2B}"/>
              </a:ext>
            </a:extLst>
          </p:cNvPr>
          <p:cNvSpPr txBox="1"/>
          <p:nvPr/>
        </p:nvSpPr>
        <p:spPr>
          <a:xfrm>
            <a:off x="9430671" y="5554306"/>
            <a:ext cx="1732030" cy="184666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218956">
              <a:spcBef>
                <a:spcPts val="1450"/>
              </a:spcBef>
            </a:pPr>
            <a:r>
              <a:rPr lang="en-US" sz="1200" b="1" kern="0" dirty="0">
                <a:solidFill>
                  <a:schemeClr val="accent2"/>
                </a:solidFill>
                <a:latin typeface="IBM Plex Sans Light"/>
              </a:rPr>
              <a:t>expectation value</a:t>
            </a:r>
            <a:endParaRPr lang="en-US" sz="1600" b="1" dirty="0">
              <a:solidFill>
                <a:schemeClr val="accent2"/>
              </a:solidFill>
              <a:latin typeface="IBM Plex Sans Light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5906966-B636-91FC-9ABE-373763579CA8}"/>
              </a:ext>
            </a:extLst>
          </p:cNvPr>
          <p:cNvCxnSpPr>
            <a:cxnSpLocks/>
          </p:cNvCxnSpPr>
          <p:nvPr/>
        </p:nvCxnSpPr>
        <p:spPr bwMode="auto">
          <a:xfrm>
            <a:off x="7257929" y="4524009"/>
            <a:ext cx="4404418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B53499F-4066-326A-CCAF-9E112080FF98}"/>
              </a:ext>
            </a:extLst>
          </p:cNvPr>
          <p:cNvSpPr txBox="1">
            <a:spLocks/>
          </p:cNvSpPr>
          <p:nvPr/>
        </p:nvSpPr>
        <p:spPr>
          <a:xfrm>
            <a:off x="29655" y="6576684"/>
            <a:ext cx="2477765" cy="1905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07"/>
            <a:r>
              <a:rPr lang="en-US" sz="1050">
                <a:solidFill>
                  <a:srgbClr val="000000"/>
                </a:solidFill>
                <a:latin typeface="IBM Plex Sans Light" panose="020B0403050203000203" pitchFamily="34" charset="0"/>
              </a:rPr>
              <a:t>IBM Quantum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42016C2-82DE-56F4-93D0-579650EAEBBE}"/>
              </a:ext>
            </a:extLst>
          </p:cNvPr>
          <p:cNvSpPr txBox="1"/>
          <p:nvPr/>
        </p:nvSpPr>
        <p:spPr>
          <a:xfrm>
            <a:off x="252422" y="5067999"/>
            <a:ext cx="6671055" cy="1477328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Computational tradeoffs/scaling</a:t>
            </a:r>
            <a:r>
              <a:rPr lang="en-US" dirty="0">
                <a:solidFill>
                  <a:schemeClr val="accent1"/>
                </a:solidFill>
              </a:rPr>
              <a:t>: </a:t>
            </a:r>
            <a:r>
              <a:rPr lang="en-US" dirty="0"/>
              <a:t>Some classical overhead for the tensor network compression.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Problem domains</a:t>
            </a:r>
            <a:r>
              <a:rPr lang="en-US" dirty="0">
                <a:solidFill>
                  <a:schemeClr val="accent1"/>
                </a:solidFill>
              </a:rPr>
              <a:t>: </a:t>
            </a:r>
            <a:r>
              <a:rPr lang="en-US" dirty="0"/>
              <a:t>Applicable to any use case involving Trotter formulas.</a:t>
            </a:r>
          </a:p>
        </p:txBody>
      </p:sp>
    </p:spTree>
    <p:extLst>
      <p:ext uri="{BB962C8B-B14F-4D97-AF65-F5344CB8AC3E}">
        <p14:creationId xmlns:p14="http://schemas.microsoft.com/office/powerpoint/2010/main" val="227551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FEDBC-ED67-6162-99BC-F38CBB012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82E09-C38C-B202-181D-B755A02FF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51" y="104045"/>
            <a:ext cx="7497139" cy="953294"/>
          </a:xfrm>
        </p:spPr>
        <p:txBody>
          <a:bodyPr>
            <a:normAutofit fontScale="90000"/>
          </a:bodyPr>
          <a:lstStyle/>
          <a:p>
            <a:r>
              <a:rPr lang="en-US" sz="3200" kern="1200" dirty="0">
                <a:solidFill>
                  <a:srgbClr val="1161FF"/>
                </a:solidFill>
                <a:latin typeface="IBM Plex Sans Light" panose="020B0403050203000203" pitchFamily="34" charset="0"/>
                <a:ea typeface="+mn-ea"/>
                <a:cs typeface="+mn-cs"/>
              </a:rPr>
              <a:t>Approximate quantum compilation (AQC)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522611E-A1B3-64A6-165D-D76D613BCB35}"/>
              </a:ext>
            </a:extLst>
          </p:cNvPr>
          <p:cNvSpPr txBox="1">
            <a:spLocks/>
          </p:cNvSpPr>
          <p:nvPr/>
        </p:nvSpPr>
        <p:spPr>
          <a:xfrm>
            <a:off x="29655" y="6576684"/>
            <a:ext cx="2477765" cy="1905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07"/>
            <a:r>
              <a:rPr lang="en-US" sz="1050">
                <a:solidFill>
                  <a:srgbClr val="000000"/>
                </a:solidFill>
                <a:latin typeface="IBM Plex Sans Light" panose="020B0403050203000203" pitchFamily="34" charset="0"/>
              </a:rPr>
              <a:t>IBM Quantum</a:t>
            </a:r>
          </a:p>
        </p:txBody>
      </p:sp>
      <p:pic>
        <p:nvPicPr>
          <p:cNvPr id="12" name="Picture 1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C705C0B-1FD6-66AD-11E8-358CA8FEF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89" y="864186"/>
            <a:ext cx="6692900" cy="9271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FFDEAD-CF87-162A-0148-E82E5EA4E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46" y="2102794"/>
            <a:ext cx="11831951" cy="176898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D5D6D8E-9896-CAD7-5CEC-FEEE84ABD7C3}"/>
              </a:ext>
            </a:extLst>
          </p:cNvPr>
          <p:cNvSpPr txBox="1"/>
          <p:nvPr/>
        </p:nvSpPr>
        <p:spPr>
          <a:xfrm>
            <a:off x="7071389" y="1823430"/>
            <a:ext cx="5220586" cy="253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1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Example circuit with 10 qubits, and 4 trotter steps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F8A17F-1DC6-E2F5-F87F-3E84CC5D55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46" y="4149879"/>
            <a:ext cx="9067290" cy="1768980"/>
          </a:xfrm>
          <a:prstGeom prst="rect">
            <a:avLst/>
          </a:prstGeom>
        </p:spPr>
      </p:pic>
      <p:sp>
        <p:nvSpPr>
          <p:cNvPr id="3" name="Right Brace 2">
            <a:extLst>
              <a:ext uri="{FF2B5EF4-FFF2-40B4-BE49-F238E27FC236}">
                <a16:creationId xmlns:a16="http://schemas.microsoft.com/office/drawing/2014/main" id="{AFD1F763-DB9E-3670-FA69-836F0681A119}"/>
              </a:ext>
            </a:extLst>
          </p:cNvPr>
          <p:cNvSpPr/>
          <p:nvPr/>
        </p:nvSpPr>
        <p:spPr bwMode="auto">
          <a:xfrm rot="5400000">
            <a:off x="1713410" y="4785338"/>
            <a:ext cx="223176" cy="2600078"/>
          </a:xfrm>
          <a:prstGeom prst="rightBrac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70F57F-8770-2A7C-C5B2-DEA2260F6E3C}"/>
              </a:ext>
            </a:extLst>
          </p:cNvPr>
          <p:cNvSpPr txBox="1"/>
          <p:nvPr/>
        </p:nvSpPr>
        <p:spPr>
          <a:xfrm>
            <a:off x="1055076" y="6310365"/>
            <a:ext cx="4652387" cy="266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1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Compressed initial part of the circuit = lower overall depth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D1D76-288A-D702-2EC4-C29BB37CCB41}"/>
              </a:ext>
            </a:extLst>
          </p:cNvPr>
          <p:cNvSpPr txBox="1"/>
          <p:nvPr/>
        </p:nvSpPr>
        <p:spPr>
          <a:xfrm>
            <a:off x="9425354" y="4250453"/>
            <a:ext cx="2606843" cy="2326231"/>
          </a:xfrm>
          <a:prstGeom prst="rect">
            <a:avLst/>
          </a:prstGeom>
          <a:ln w="12700">
            <a:solidFill>
              <a:schemeClr val="accent1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1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For a 100 qubit Hamiltonian Simulation circuit with 40 trotter steps:</a:t>
            </a:r>
          </a:p>
          <a:p>
            <a:pPr marL="740666" lvl="1" indent="-285750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Depth of original circuit: </a:t>
            </a:r>
            <a:r>
              <a:rPr lang="en-US" sz="1400" kern="0" dirty="0">
                <a:solidFill>
                  <a:schemeClr val="accent1"/>
                </a:solidFill>
                <a:ea typeface="+mj-ea"/>
                <a:cs typeface="+mj-cs"/>
                <a:sym typeface="IBM Plex Sans Light"/>
              </a:rPr>
              <a:t>325</a:t>
            </a:r>
          </a:p>
          <a:p>
            <a:pPr marL="740666" lvl="1" indent="-285750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Depth of circuit post AQC: </a:t>
            </a:r>
            <a:r>
              <a:rPr lang="en-US" sz="1400" kern="0" dirty="0">
                <a:solidFill>
                  <a:schemeClr val="accent1"/>
                </a:solidFill>
                <a:ea typeface="+mj-ea"/>
                <a:cs typeface="+mj-cs"/>
                <a:sym typeface="IBM Plex Sans Light"/>
              </a:rPr>
              <a:t>147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4FC575-3452-5E72-B455-FE7BEB9876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2836" y="109488"/>
            <a:ext cx="1719361" cy="169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379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FAE10-1BF4-3EFA-7D59-04D44DC45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55" y="131477"/>
            <a:ext cx="6841957" cy="953294"/>
          </a:xfrm>
        </p:spPr>
        <p:txBody>
          <a:bodyPr/>
          <a:lstStyle/>
          <a:p>
            <a:r>
              <a:rPr lang="en-US" sz="3599" kern="1200" dirty="0">
                <a:solidFill>
                  <a:srgbClr val="1161FF"/>
                </a:solidFill>
                <a:latin typeface="IBM Plex Sans Light" panose="020B0403050203000203" pitchFamily="34" charset="0"/>
                <a:ea typeface="+mn-ea"/>
                <a:cs typeface="+mn-cs"/>
              </a:rPr>
              <a:t>Operator backpropagation (OBP)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A6AB6-DCCD-B03D-7BD4-F61F9A119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6287" y="1363710"/>
            <a:ext cx="5274601" cy="4279232"/>
          </a:xfrm>
        </p:spPr>
        <p:txBody>
          <a:bodyPr lIns="0" tIns="0" rIns="0" bIns="0" anchor="t">
            <a:normAutofit/>
          </a:bodyPr>
          <a:lstStyle/>
          <a:p>
            <a:r>
              <a:rPr lang="en-US" sz="1800" i="1" dirty="0">
                <a:ea typeface="+mj-lt"/>
                <a:cs typeface="+mj-lt"/>
              </a:rPr>
              <a:t>Experimental errors limit the depth of quantum circuits that can be executed on near-term devices. </a:t>
            </a:r>
            <a:endParaRPr lang="en-US" sz="1800" dirty="0">
              <a:ea typeface="+mj-lt"/>
              <a:cs typeface="+mj-lt"/>
            </a:endParaRPr>
          </a:p>
          <a:p>
            <a:endParaRPr lang="en-US" sz="1800" i="1" dirty="0">
              <a:ea typeface="+mj-lt"/>
              <a:cs typeface="+mj-lt"/>
            </a:endParaRPr>
          </a:p>
          <a:p>
            <a:r>
              <a:rPr lang="en-US" sz="1800" i="1" dirty="0">
                <a:ea typeface="+mj-lt"/>
                <a:cs typeface="+mj-lt"/>
              </a:rPr>
              <a:t>OBP reduces </a:t>
            </a:r>
            <a:r>
              <a:rPr lang="en-US" sz="1800" i="1" dirty="0">
                <a:effectLst/>
                <a:ea typeface="+mj-lt"/>
                <a:cs typeface="+mj-lt"/>
              </a:rPr>
              <a:t>circuit depth </a:t>
            </a:r>
            <a:r>
              <a:rPr lang="en-US" sz="1800" i="1" dirty="0">
                <a:ea typeface="+mj-lt"/>
                <a:cs typeface="+mj-lt"/>
              </a:rPr>
              <a:t>by trimming operations from its end at the cost </a:t>
            </a:r>
            <a:r>
              <a:rPr lang="en-US" sz="1800" i="1" dirty="0">
                <a:effectLst/>
                <a:ea typeface="+mj-lt"/>
                <a:cs typeface="+mj-lt"/>
              </a:rPr>
              <a:t>of </a:t>
            </a:r>
            <a:r>
              <a:rPr lang="en-US" sz="1800" i="1" dirty="0">
                <a:ea typeface="+mj-lt"/>
                <a:cs typeface="+mj-lt"/>
              </a:rPr>
              <a:t>more operator measurements</a:t>
            </a:r>
            <a:r>
              <a:rPr lang="en-US" sz="1800" i="1" dirty="0">
                <a:effectLst/>
              </a:rPr>
              <a:t>. 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20BDB1-1322-2E81-8D55-03F1DE2853CB}"/>
              </a:ext>
            </a:extLst>
          </p:cNvPr>
          <p:cNvSpPr txBox="1"/>
          <p:nvPr/>
        </p:nvSpPr>
        <p:spPr>
          <a:xfrm>
            <a:off x="7006617" y="922605"/>
            <a:ext cx="1677458" cy="27699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 defTabSz="1218956">
              <a:spcBef>
                <a:spcPts val="1450"/>
              </a:spcBef>
              <a:buSzPct val="100000"/>
            </a:pPr>
            <a:r>
              <a:rPr lang="en-US" b="1" dirty="0">
                <a:latin typeface="IBM Plex Sans" panose="020B0503050203000203" pitchFamily="34" charset="0"/>
              </a:rPr>
              <a:t>Map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9BB8D2-745B-A2CA-3688-66AFCBE99382}"/>
              </a:ext>
            </a:extLst>
          </p:cNvPr>
          <p:cNvSpPr txBox="1"/>
          <p:nvPr/>
        </p:nvSpPr>
        <p:spPr>
          <a:xfrm>
            <a:off x="7006617" y="2807164"/>
            <a:ext cx="1677458" cy="27699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 defTabSz="1218956">
              <a:spcBef>
                <a:spcPts val="1450"/>
              </a:spcBef>
              <a:buSzPct val="100000"/>
            </a:pPr>
            <a:r>
              <a:rPr lang="en-US" b="1" dirty="0">
                <a:latin typeface="IBM Plex Sans" panose="020B0503050203000203" pitchFamily="34" charset="0"/>
              </a:rPr>
              <a:t>Optimize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79BB3F-1D69-DD0E-6E70-939830A4D8FA}"/>
              </a:ext>
            </a:extLst>
          </p:cNvPr>
          <p:cNvSpPr txBox="1"/>
          <p:nvPr/>
        </p:nvSpPr>
        <p:spPr>
          <a:xfrm>
            <a:off x="7006617" y="4562702"/>
            <a:ext cx="1677458" cy="27699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 defTabSz="1218956">
              <a:spcBef>
                <a:spcPts val="1450"/>
              </a:spcBef>
              <a:buSzPct val="100000"/>
            </a:pPr>
            <a:r>
              <a:rPr lang="en-US" b="1" dirty="0">
                <a:latin typeface="IBM Plex Sans" panose="020B0503050203000203" pitchFamily="34" charset="0"/>
              </a:rPr>
              <a:t>Execute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AF36BF3-2D30-0D20-FB60-54CA02DB2F18}"/>
              </a:ext>
            </a:extLst>
          </p:cNvPr>
          <p:cNvSpPr/>
          <p:nvPr/>
        </p:nvSpPr>
        <p:spPr bwMode="auto">
          <a:xfrm>
            <a:off x="8972708" y="718542"/>
            <a:ext cx="2286779" cy="645168"/>
          </a:xfrm>
          <a:prstGeom prst="roundRect">
            <a:avLst>
              <a:gd name="adj" fmla="val 3320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defTabSz="457109" fontAlgn="base">
              <a:spcBef>
                <a:spcPct val="0"/>
              </a:spcBef>
              <a:spcAft>
                <a:spcPct val="0"/>
              </a:spcAft>
            </a:pPr>
            <a:endParaRPr lang="en-US" sz="700" dirty="0">
              <a:solidFill>
                <a:srgbClr val="FFFFFF"/>
              </a:solidFill>
              <a:latin typeface="IBM Plex Sans Ligh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B2A453-6065-0165-198A-B988904391B1}"/>
              </a:ext>
            </a:extLst>
          </p:cNvPr>
          <p:cNvSpPr txBox="1"/>
          <p:nvPr/>
        </p:nvSpPr>
        <p:spPr>
          <a:xfrm>
            <a:off x="9081642" y="801075"/>
            <a:ext cx="1891398" cy="49244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218956">
              <a:spcBef>
                <a:spcPts val="1450"/>
              </a:spcBef>
            </a:pPr>
            <a:r>
              <a:rPr lang="en-US" sz="1600" b="1" kern="0" dirty="0">
                <a:solidFill>
                  <a:srgbClr val="000000"/>
                </a:solidFill>
                <a:latin typeface="IBM Plex Sans Light"/>
              </a:rPr>
              <a:t>Create circuit, observable</a:t>
            </a:r>
            <a:endParaRPr lang="en-US" sz="2000" b="1" dirty="0">
              <a:solidFill>
                <a:srgbClr val="000000"/>
              </a:solidFill>
              <a:latin typeface="IBM Plex Sans Light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33248F7-B19C-B71E-C18C-2ACBAAFD7659}"/>
              </a:ext>
            </a:extLst>
          </p:cNvPr>
          <p:cNvSpPr/>
          <p:nvPr/>
        </p:nvSpPr>
        <p:spPr bwMode="auto">
          <a:xfrm>
            <a:off x="8959534" y="3119886"/>
            <a:ext cx="2286779" cy="645168"/>
          </a:xfrm>
          <a:prstGeom prst="roundRect">
            <a:avLst>
              <a:gd name="adj" fmla="val 33200"/>
            </a:avLst>
          </a:prstGeom>
          <a:solidFill>
            <a:schemeClr val="accent2">
              <a:lumMod val="60000"/>
              <a:lumOff val="40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defTabSz="457109" fontAlgn="base">
              <a:spcBef>
                <a:spcPct val="0"/>
              </a:spcBef>
              <a:spcAft>
                <a:spcPct val="0"/>
              </a:spcAft>
            </a:pPr>
            <a:endParaRPr lang="en-US" sz="700" dirty="0">
              <a:solidFill>
                <a:srgbClr val="FFFFFF"/>
              </a:solidFill>
              <a:latin typeface="IBM Plex Sans Ligh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A90B05-BD30-CE25-81F9-DC9EEF760C33}"/>
              </a:ext>
            </a:extLst>
          </p:cNvPr>
          <p:cNvSpPr txBox="1"/>
          <p:nvPr/>
        </p:nvSpPr>
        <p:spPr>
          <a:xfrm>
            <a:off x="9066213" y="3334762"/>
            <a:ext cx="1891398" cy="24622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218956">
              <a:spcBef>
                <a:spcPts val="1450"/>
              </a:spcBef>
            </a:pPr>
            <a:r>
              <a:rPr lang="en-US" sz="1600" b="1" kern="0" dirty="0">
                <a:solidFill>
                  <a:srgbClr val="000000"/>
                </a:solidFill>
                <a:latin typeface="IBM Plex Sans Light"/>
              </a:rPr>
              <a:t>OBP</a:t>
            </a:r>
            <a:endParaRPr lang="en-US" sz="2000" b="1" dirty="0">
              <a:solidFill>
                <a:srgbClr val="000000"/>
              </a:solidFill>
              <a:latin typeface="IBM Plex Sans Light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9C4FA65-D7D7-9779-6C8B-12407D5F4AB3}"/>
              </a:ext>
            </a:extLst>
          </p:cNvPr>
          <p:cNvSpPr/>
          <p:nvPr/>
        </p:nvSpPr>
        <p:spPr bwMode="auto">
          <a:xfrm>
            <a:off x="8972708" y="4373795"/>
            <a:ext cx="2286779" cy="645168"/>
          </a:xfrm>
          <a:prstGeom prst="roundRect">
            <a:avLst>
              <a:gd name="adj" fmla="val 33200"/>
            </a:avLst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defTabSz="457109" fontAlgn="base">
              <a:spcBef>
                <a:spcPct val="0"/>
              </a:spcBef>
              <a:spcAft>
                <a:spcPct val="0"/>
              </a:spcAft>
            </a:pPr>
            <a:endParaRPr lang="en-US" sz="700" dirty="0">
              <a:solidFill>
                <a:srgbClr val="FFFFFF"/>
              </a:solidFill>
              <a:latin typeface="IBM Plex Sans Light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749F27-9880-1063-9CFE-EEA6E466C8F1}"/>
              </a:ext>
            </a:extLst>
          </p:cNvPr>
          <p:cNvSpPr txBox="1"/>
          <p:nvPr/>
        </p:nvSpPr>
        <p:spPr>
          <a:xfrm>
            <a:off x="9079387" y="4588671"/>
            <a:ext cx="1891398" cy="24622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218956">
              <a:spcBef>
                <a:spcPts val="1450"/>
              </a:spcBef>
            </a:pPr>
            <a:r>
              <a:rPr lang="en-US" sz="1600" b="1" kern="0" dirty="0">
                <a:solidFill>
                  <a:srgbClr val="000000"/>
                </a:solidFill>
                <a:latin typeface="IBM Plex Sans Light"/>
              </a:rPr>
              <a:t>Estimator Primitive</a:t>
            </a:r>
            <a:endParaRPr lang="en-US" sz="2000" b="1" dirty="0">
              <a:solidFill>
                <a:srgbClr val="000000"/>
              </a:solidFill>
              <a:latin typeface="IBM Plex Sans Light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C8A635C-804D-05DB-8A60-4B40616FA73B}"/>
              </a:ext>
            </a:extLst>
          </p:cNvPr>
          <p:cNvCxnSpPr>
            <a:cxnSpLocks/>
          </p:cNvCxnSpPr>
          <p:nvPr/>
        </p:nvCxnSpPr>
        <p:spPr bwMode="auto">
          <a:xfrm>
            <a:off x="9323749" y="1459950"/>
            <a:ext cx="0" cy="30939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53D05D0-189C-75D5-7818-58FD1548C526}"/>
              </a:ext>
            </a:extLst>
          </p:cNvPr>
          <p:cNvSpPr txBox="1"/>
          <p:nvPr/>
        </p:nvSpPr>
        <p:spPr>
          <a:xfrm>
            <a:off x="9438686" y="1435395"/>
            <a:ext cx="1732030" cy="184666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218956">
              <a:spcBef>
                <a:spcPts val="1450"/>
              </a:spcBef>
            </a:pPr>
            <a:r>
              <a:rPr lang="en-US" sz="1200" kern="0" dirty="0">
                <a:solidFill>
                  <a:srgbClr val="000000"/>
                </a:solidFill>
                <a:latin typeface="IBM Plex Sans Light"/>
              </a:rPr>
              <a:t>circuit, observable</a:t>
            </a:r>
            <a:endParaRPr lang="en-US" sz="1600" dirty="0">
              <a:solidFill>
                <a:srgbClr val="000000"/>
              </a:solidFill>
              <a:latin typeface="IBM Plex Sans Ligh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801E48-CADE-ACFE-6F3F-1C0045B31986}"/>
              </a:ext>
            </a:extLst>
          </p:cNvPr>
          <p:cNvSpPr txBox="1"/>
          <p:nvPr/>
        </p:nvSpPr>
        <p:spPr>
          <a:xfrm>
            <a:off x="9438686" y="3864904"/>
            <a:ext cx="2753314" cy="184666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218956">
              <a:spcBef>
                <a:spcPts val="1450"/>
              </a:spcBef>
            </a:pPr>
            <a:r>
              <a:rPr lang="en-US" sz="1200" b="1" kern="0" dirty="0">
                <a:solidFill>
                  <a:schemeClr val="accent2"/>
                </a:solidFill>
                <a:latin typeface="IBM Plex Sans Light"/>
              </a:rPr>
              <a:t>Shorter  circuit, expanded observable</a:t>
            </a:r>
            <a:endParaRPr lang="en-US" sz="1600" b="1" dirty="0">
              <a:solidFill>
                <a:schemeClr val="accent2"/>
              </a:solidFill>
              <a:latin typeface="IBM Plex Sans Light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80206D9-4443-F164-5304-076238A8528F}"/>
              </a:ext>
            </a:extLst>
          </p:cNvPr>
          <p:cNvCxnSpPr>
            <a:cxnSpLocks/>
          </p:cNvCxnSpPr>
          <p:nvPr/>
        </p:nvCxnSpPr>
        <p:spPr bwMode="auto">
          <a:xfrm>
            <a:off x="9323749" y="5108876"/>
            <a:ext cx="0" cy="23701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F2ECEB8-094E-226D-A03E-5E9C6BF5799B}"/>
              </a:ext>
            </a:extLst>
          </p:cNvPr>
          <p:cNvSpPr txBox="1"/>
          <p:nvPr/>
        </p:nvSpPr>
        <p:spPr>
          <a:xfrm>
            <a:off x="9430671" y="5167697"/>
            <a:ext cx="2051789" cy="184666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218956">
              <a:spcBef>
                <a:spcPts val="1450"/>
              </a:spcBef>
            </a:pPr>
            <a:r>
              <a:rPr lang="en-US" sz="1200" kern="0" dirty="0">
                <a:solidFill>
                  <a:srgbClr val="000000"/>
                </a:solidFill>
                <a:latin typeface="IBM Plex Sans Light"/>
              </a:rPr>
              <a:t>expectation value</a:t>
            </a:r>
            <a:endParaRPr lang="en-US" sz="1600" dirty="0">
              <a:solidFill>
                <a:srgbClr val="000000"/>
              </a:solidFill>
              <a:latin typeface="IBM Plex Sans Light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C36822D-AF2C-D27E-9C35-12E199EF418B}"/>
              </a:ext>
            </a:extLst>
          </p:cNvPr>
          <p:cNvCxnSpPr>
            <a:cxnSpLocks/>
          </p:cNvCxnSpPr>
          <p:nvPr/>
        </p:nvCxnSpPr>
        <p:spPr bwMode="auto">
          <a:xfrm>
            <a:off x="9323749" y="391391"/>
            <a:ext cx="0" cy="21986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4E40997-F2B2-15A5-E0D4-499AAA339BE4}"/>
              </a:ext>
            </a:extLst>
          </p:cNvPr>
          <p:cNvSpPr txBox="1"/>
          <p:nvPr/>
        </p:nvSpPr>
        <p:spPr>
          <a:xfrm>
            <a:off x="9430672" y="305837"/>
            <a:ext cx="1732030" cy="184666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218956">
              <a:spcBef>
                <a:spcPts val="1450"/>
              </a:spcBef>
            </a:pPr>
            <a:r>
              <a:rPr lang="en-US" sz="1200" kern="0" dirty="0">
                <a:solidFill>
                  <a:srgbClr val="000000"/>
                </a:solidFill>
                <a:latin typeface="IBM Plex Sans Light"/>
              </a:rPr>
              <a:t>domain inputs</a:t>
            </a:r>
            <a:endParaRPr lang="en-US" sz="1600" dirty="0">
              <a:solidFill>
                <a:srgbClr val="000000"/>
              </a:solidFill>
              <a:latin typeface="IBM Plex Sans Light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A91E084-792D-65F0-66BB-8E058C5BA6A0}"/>
              </a:ext>
            </a:extLst>
          </p:cNvPr>
          <p:cNvCxnSpPr>
            <a:cxnSpLocks/>
          </p:cNvCxnSpPr>
          <p:nvPr/>
        </p:nvCxnSpPr>
        <p:spPr bwMode="auto">
          <a:xfrm>
            <a:off x="9323749" y="3831555"/>
            <a:ext cx="0" cy="261521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5B985EB-B88C-978B-F983-F8FFE7EEC073}"/>
              </a:ext>
            </a:extLst>
          </p:cNvPr>
          <p:cNvCxnSpPr>
            <a:cxnSpLocks/>
          </p:cNvCxnSpPr>
          <p:nvPr/>
        </p:nvCxnSpPr>
        <p:spPr bwMode="auto">
          <a:xfrm>
            <a:off x="7242939" y="1889268"/>
            <a:ext cx="4404418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EBDF523-8E04-C5FE-5B3B-900C4132F195}"/>
              </a:ext>
            </a:extLst>
          </p:cNvPr>
          <p:cNvCxnSpPr>
            <a:cxnSpLocks/>
          </p:cNvCxnSpPr>
          <p:nvPr/>
        </p:nvCxnSpPr>
        <p:spPr bwMode="auto">
          <a:xfrm>
            <a:off x="7242939" y="4152389"/>
            <a:ext cx="4404418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810CF99-CA0F-2BC0-B739-7AAF8F5DC40C}"/>
              </a:ext>
            </a:extLst>
          </p:cNvPr>
          <p:cNvSpPr txBox="1"/>
          <p:nvPr/>
        </p:nvSpPr>
        <p:spPr>
          <a:xfrm>
            <a:off x="7006617" y="5908682"/>
            <a:ext cx="1677458" cy="27699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 defTabSz="1218956">
              <a:spcBef>
                <a:spcPts val="1450"/>
              </a:spcBef>
              <a:buSzPct val="100000"/>
            </a:pPr>
            <a:r>
              <a:rPr lang="en-US" b="1" dirty="0">
                <a:latin typeface="IBM Plex Sans" panose="020B0503050203000203" pitchFamily="34" charset="0"/>
              </a:rPr>
              <a:t>Postprocess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DB7A97B2-5179-089D-00A0-F55405E3A3AB}"/>
              </a:ext>
            </a:extLst>
          </p:cNvPr>
          <p:cNvSpPr/>
          <p:nvPr/>
        </p:nvSpPr>
        <p:spPr bwMode="auto">
          <a:xfrm>
            <a:off x="8972708" y="5719775"/>
            <a:ext cx="2286779" cy="645168"/>
          </a:xfrm>
          <a:prstGeom prst="roundRect">
            <a:avLst>
              <a:gd name="adj" fmla="val 33200"/>
            </a:avLst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defTabSz="457109" fontAlgn="base">
              <a:spcBef>
                <a:spcPct val="0"/>
              </a:spcBef>
              <a:spcAft>
                <a:spcPct val="0"/>
              </a:spcAft>
            </a:pPr>
            <a:endParaRPr lang="en-US" sz="700" dirty="0">
              <a:solidFill>
                <a:srgbClr val="FFFFFF"/>
              </a:solidFill>
              <a:latin typeface="IBM Plex Sans Ligh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313917-7679-A4BF-3124-914762484353}"/>
              </a:ext>
            </a:extLst>
          </p:cNvPr>
          <p:cNvSpPr txBox="1"/>
          <p:nvPr/>
        </p:nvSpPr>
        <p:spPr>
          <a:xfrm>
            <a:off x="9079387" y="5934651"/>
            <a:ext cx="1891398" cy="24622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218956">
              <a:spcBef>
                <a:spcPts val="1450"/>
              </a:spcBef>
            </a:pPr>
            <a:r>
              <a:rPr lang="en-US" sz="1600" b="1" kern="0" dirty="0">
                <a:solidFill>
                  <a:srgbClr val="000000"/>
                </a:solidFill>
                <a:latin typeface="IBM Plex Sans Light"/>
              </a:rPr>
              <a:t>postprocess</a:t>
            </a:r>
            <a:endParaRPr lang="en-US" sz="2000" b="1" dirty="0">
              <a:solidFill>
                <a:srgbClr val="000000"/>
              </a:solidFill>
              <a:latin typeface="IBM Plex Sans Light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C200BB8-ED94-7EDC-A59E-BE1CDEB87B51}"/>
              </a:ext>
            </a:extLst>
          </p:cNvPr>
          <p:cNvCxnSpPr>
            <a:cxnSpLocks/>
          </p:cNvCxnSpPr>
          <p:nvPr/>
        </p:nvCxnSpPr>
        <p:spPr bwMode="auto">
          <a:xfrm>
            <a:off x="9323749" y="6454856"/>
            <a:ext cx="0" cy="23701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3130C40-6126-A5BD-32A7-4EB09AAA37AF}"/>
              </a:ext>
            </a:extLst>
          </p:cNvPr>
          <p:cNvSpPr txBox="1"/>
          <p:nvPr/>
        </p:nvSpPr>
        <p:spPr>
          <a:xfrm>
            <a:off x="9430671" y="6528666"/>
            <a:ext cx="1732030" cy="184666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218956">
              <a:spcBef>
                <a:spcPts val="1450"/>
              </a:spcBef>
            </a:pPr>
            <a:r>
              <a:rPr lang="en-US" sz="1200" kern="0" dirty="0">
                <a:solidFill>
                  <a:srgbClr val="000000"/>
                </a:solidFill>
                <a:latin typeface="IBM Plex Sans Light"/>
              </a:rPr>
              <a:t>domain outputs</a:t>
            </a:r>
            <a:endParaRPr lang="en-US" sz="1600" dirty="0">
              <a:solidFill>
                <a:srgbClr val="000000"/>
              </a:solidFill>
              <a:latin typeface="IBM Plex Sans Light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AB7F220-3FB1-9F4E-B943-EAD05F06812A}"/>
              </a:ext>
            </a:extLst>
          </p:cNvPr>
          <p:cNvCxnSpPr>
            <a:cxnSpLocks/>
          </p:cNvCxnSpPr>
          <p:nvPr/>
        </p:nvCxnSpPr>
        <p:spPr bwMode="auto">
          <a:xfrm>
            <a:off x="7257929" y="5498369"/>
            <a:ext cx="4404418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657B29E6-F8E6-8896-982A-B3A055591BC9}"/>
              </a:ext>
            </a:extLst>
          </p:cNvPr>
          <p:cNvSpPr txBox="1">
            <a:spLocks/>
          </p:cNvSpPr>
          <p:nvPr/>
        </p:nvSpPr>
        <p:spPr>
          <a:xfrm>
            <a:off x="29655" y="6576684"/>
            <a:ext cx="2477765" cy="1905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07"/>
            <a:r>
              <a:rPr lang="en-US" sz="1050">
                <a:solidFill>
                  <a:srgbClr val="000000"/>
                </a:solidFill>
                <a:latin typeface="IBM Plex Sans Light" panose="020B0403050203000203" pitchFamily="34" charset="0"/>
              </a:rPr>
              <a:t>IBM Quantum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002EBD-D508-315E-C9E8-F70749692127}"/>
              </a:ext>
            </a:extLst>
          </p:cNvPr>
          <p:cNvSpPr txBox="1"/>
          <p:nvPr/>
        </p:nvSpPr>
        <p:spPr>
          <a:xfrm>
            <a:off x="306287" y="3580983"/>
            <a:ext cx="5641785" cy="1754326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Computational tradeoffs</a:t>
            </a:r>
            <a:r>
              <a:rPr lang="en-US" dirty="0">
                <a:solidFill>
                  <a:schemeClr val="accent1"/>
                </a:solidFill>
              </a:rPr>
              <a:t>: </a:t>
            </a:r>
            <a:r>
              <a:rPr lang="en-US" dirty="0"/>
              <a:t>The number of quantum circuits grows exponentially with number of non-Clifford gates which are backpropagated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Problem domains</a:t>
            </a:r>
            <a:r>
              <a:rPr lang="en-US" dirty="0">
                <a:solidFill>
                  <a:schemeClr val="accent1"/>
                </a:solidFill>
              </a:rPr>
              <a:t>: </a:t>
            </a:r>
            <a:r>
              <a:rPr lang="en-US" dirty="0"/>
              <a:t>Applicable to expectation value estimation. Is well-suited to Hamiltonian simulation.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7DEBE9-712F-57FB-ECE5-2FBB6F91F042}"/>
              </a:ext>
            </a:extLst>
          </p:cNvPr>
          <p:cNvSpPr/>
          <p:nvPr/>
        </p:nvSpPr>
        <p:spPr bwMode="auto">
          <a:xfrm>
            <a:off x="8959534" y="2040515"/>
            <a:ext cx="2286779" cy="645168"/>
          </a:xfrm>
          <a:prstGeom prst="roundRect">
            <a:avLst>
              <a:gd name="adj" fmla="val 33200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defTabSz="457109" fontAlgn="base">
              <a:spcBef>
                <a:spcPct val="0"/>
              </a:spcBef>
              <a:spcAft>
                <a:spcPct val="0"/>
              </a:spcAft>
            </a:pPr>
            <a:endParaRPr lang="en-US" sz="700" dirty="0">
              <a:solidFill>
                <a:srgbClr val="FFFFFF"/>
              </a:solidFill>
              <a:latin typeface="IBM Plex Sans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B684C8-5E0B-600E-1B52-3800345C6595}"/>
              </a:ext>
            </a:extLst>
          </p:cNvPr>
          <p:cNvSpPr txBox="1"/>
          <p:nvPr/>
        </p:nvSpPr>
        <p:spPr>
          <a:xfrm>
            <a:off x="9066213" y="2255391"/>
            <a:ext cx="1891398" cy="24622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218956">
              <a:spcBef>
                <a:spcPts val="1450"/>
              </a:spcBef>
            </a:pPr>
            <a:r>
              <a:rPr lang="en-US" sz="1600" b="1" kern="0" dirty="0" err="1">
                <a:solidFill>
                  <a:srgbClr val="000000"/>
                </a:solidFill>
                <a:latin typeface="IBM Plex Sans Light"/>
              </a:rPr>
              <a:t>Transpile</a:t>
            </a:r>
            <a:r>
              <a:rPr lang="en-US" sz="1600" b="1" kern="0" dirty="0">
                <a:solidFill>
                  <a:srgbClr val="000000"/>
                </a:solidFill>
                <a:latin typeface="IBM Plex Sans Light"/>
              </a:rPr>
              <a:t> circuit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181315-E6C1-9EC7-189C-E6780E9964FE}"/>
              </a:ext>
            </a:extLst>
          </p:cNvPr>
          <p:cNvSpPr txBox="1"/>
          <p:nvPr/>
        </p:nvSpPr>
        <p:spPr>
          <a:xfrm>
            <a:off x="9438685" y="2785533"/>
            <a:ext cx="2753309" cy="184666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218956">
              <a:spcBef>
                <a:spcPts val="1450"/>
              </a:spcBef>
            </a:pPr>
            <a:r>
              <a:rPr lang="en-US" sz="1200" kern="0" dirty="0">
                <a:latin typeface="IBM Plex Sans Light"/>
              </a:rPr>
              <a:t>ISA circuit, expanded observable</a:t>
            </a:r>
            <a:endParaRPr lang="en-US" sz="1600" dirty="0">
              <a:latin typeface="IBM Plex Sans Light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74DF178-4F0D-DF37-4623-74A17C181A7A}"/>
              </a:ext>
            </a:extLst>
          </p:cNvPr>
          <p:cNvCxnSpPr>
            <a:cxnSpLocks/>
          </p:cNvCxnSpPr>
          <p:nvPr/>
        </p:nvCxnSpPr>
        <p:spPr bwMode="auto">
          <a:xfrm>
            <a:off x="9323749" y="2752184"/>
            <a:ext cx="0" cy="26152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797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Arc 222">
            <a:extLst>
              <a:ext uri="{FF2B5EF4-FFF2-40B4-BE49-F238E27FC236}">
                <a16:creationId xmlns:a16="http://schemas.microsoft.com/office/drawing/2014/main" id="{A60412DF-7ED7-22F3-2EAB-86164C867314}"/>
              </a:ext>
            </a:extLst>
          </p:cNvPr>
          <p:cNvSpPr/>
          <p:nvPr/>
        </p:nvSpPr>
        <p:spPr bwMode="auto">
          <a:xfrm>
            <a:off x="3315062" y="2775821"/>
            <a:ext cx="1421245" cy="2079814"/>
          </a:xfrm>
          <a:prstGeom prst="arc">
            <a:avLst>
              <a:gd name="adj1" fmla="val 17198654"/>
              <a:gd name="adj2" fmla="val 3557802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0D2D28BA-21A5-64CB-A46A-F33A4B61E1D5}"/>
              </a:ext>
            </a:extLst>
          </p:cNvPr>
          <p:cNvGrpSpPr/>
          <p:nvPr/>
        </p:nvGrpSpPr>
        <p:grpSpPr>
          <a:xfrm>
            <a:off x="4178895" y="3551543"/>
            <a:ext cx="2898843" cy="461665"/>
            <a:chOff x="5428034" y="3554812"/>
            <a:chExt cx="2898843" cy="461665"/>
          </a:xfrm>
        </p:grpSpPr>
        <p:sp>
          <p:nvSpPr>
            <p:cNvPr id="218" name="Rounded Rectangle 217">
              <a:extLst>
                <a:ext uri="{FF2B5EF4-FFF2-40B4-BE49-F238E27FC236}">
                  <a16:creationId xmlns:a16="http://schemas.microsoft.com/office/drawing/2014/main" id="{459A1BB8-35A3-8184-71C4-C4DADB17D632}"/>
                </a:ext>
              </a:extLst>
            </p:cNvPr>
            <p:cNvSpPr/>
            <p:nvPr/>
          </p:nvSpPr>
          <p:spPr bwMode="auto">
            <a:xfrm>
              <a:off x="5428034" y="3554812"/>
              <a:ext cx="2898843" cy="461665"/>
            </a:xfrm>
            <a:prstGeom prst="roundRect">
              <a:avLst>
                <a:gd name="adj" fmla="val 5499"/>
              </a:avLst>
            </a:prstGeom>
            <a:solidFill>
              <a:schemeClr val="bg1"/>
            </a:solidFill>
            <a:ln w="19050">
              <a:solidFill>
                <a:srgbClr val="161616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C5158A60-3996-CE33-28FD-402D7F632C32}"/>
                </a:ext>
              </a:extLst>
            </p:cNvPr>
            <p:cNvSpPr txBox="1"/>
            <p:nvPr/>
          </p:nvSpPr>
          <p:spPr>
            <a:xfrm>
              <a:off x="5505855" y="3625446"/>
              <a:ext cx="2730230" cy="35518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 anchor="ctr">
              <a:noAutofit/>
            </a:bodyPr>
            <a:lstStyle/>
            <a:p>
              <a:pPr algn="ctr" defTabSz="2438400">
                <a:spcBef>
                  <a:spcPts val="2900"/>
                </a:spcBef>
                <a:buSzPct val="100000"/>
              </a:pPr>
              <a:r>
                <a:rPr lang="en-US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Classically absorb </a:t>
              </a:r>
              <a:r>
                <a:rPr lang="en-US" kern="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+mj-cs"/>
                  <a:sym typeface="IBM Plex Sans Light"/>
                </a:rPr>
                <a:t>U</a:t>
              </a:r>
              <a:r>
                <a:rPr lang="en-US" kern="0" baseline="-2500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+mj-cs"/>
                  <a:sym typeface="IBM Plex Sans Light"/>
                </a:rPr>
                <a:t>C</a:t>
              </a:r>
              <a:r>
                <a:rPr lang="en-US" kern="0" baseline="-2500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 </a:t>
              </a:r>
              <a:r>
                <a:rPr lang="en-US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into </a:t>
              </a:r>
              <a:r>
                <a:rPr lang="en-US" i="1" kern="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+mj-cs"/>
                  <a:sym typeface="IBM Plex Sans Light"/>
                </a:rPr>
                <a:t>O</a:t>
              </a:r>
              <a:endParaRPr lang="en-US" i="1" kern="0" baseline="-25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j-cs"/>
                <a:sym typeface="IBM Plex Sans Light"/>
              </a:endParaRPr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E55BF3E3-426E-B717-2E7A-4BA36BE2AF51}"/>
              </a:ext>
            </a:extLst>
          </p:cNvPr>
          <p:cNvGrpSpPr/>
          <p:nvPr/>
        </p:nvGrpSpPr>
        <p:grpSpPr>
          <a:xfrm>
            <a:off x="1006305" y="1478898"/>
            <a:ext cx="4381703" cy="1767457"/>
            <a:chOff x="6822706" y="782261"/>
            <a:chExt cx="4381703" cy="1767457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05854891-7D48-47AB-68E3-752E3C09DBC4}"/>
                </a:ext>
              </a:extLst>
            </p:cNvPr>
            <p:cNvGrpSpPr/>
            <p:nvPr/>
          </p:nvGrpSpPr>
          <p:grpSpPr>
            <a:xfrm>
              <a:off x="6822706" y="991707"/>
              <a:ext cx="3430924" cy="965342"/>
              <a:chOff x="8693539" y="3515157"/>
              <a:chExt cx="1111205" cy="965342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E6BEC529-557F-A522-F236-22FE1EA2CB9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693539" y="3515157"/>
                <a:ext cx="11112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40B2544-9414-4A5E-E938-7AF2441A641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693539" y="3708225"/>
                <a:ext cx="11112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4EC10580-4962-29BA-8228-B2EB4F123A7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693539" y="3901293"/>
                <a:ext cx="11112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80E9A8F2-8844-B3FF-AD38-F87A02E7F97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693539" y="4094361"/>
                <a:ext cx="11112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17E7234A-6979-DC48-F466-528703DBD2C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693539" y="4287429"/>
                <a:ext cx="11112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FFE398AF-DB27-958D-A718-52CAB55083C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693539" y="4480499"/>
                <a:ext cx="11112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" name="Rectangle: Rounded Corners 13">
              <a:extLst>
                <a:ext uri="{FF2B5EF4-FFF2-40B4-BE49-F238E27FC236}">
                  <a16:creationId xmlns:a16="http://schemas.microsoft.com/office/drawing/2014/main" id="{47EE8265-E036-30EE-B539-04C8AEF0E8BD}"/>
                </a:ext>
              </a:extLst>
            </p:cNvPr>
            <p:cNvSpPr/>
            <p:nvPr/>
          </p:nvSpPr>
          <p:spPr bwMode="auto">
            <a:xfrm>
              <a:off x="9144469" y="906037"/>
              <a:ext cx="246367" cy="364813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 w="19050">
              <a:solidFill>
                <a:schemeClr val="accent2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3" name="Rectangle: Rounded Corners 15">
              <a:extLst>
                <a:ext uri="{FF2B5EF4-FFF2-40B4-BE49-F238E27FC236}">
                  <a16:creationId xmlns:a16="http://schemas.microsoft.com/office/drawing/2014/main" id="{2FD6F57D-C0AD-73FF-2C61-AD376C01BA16}"/>
                </a:ext>
              </a:extLst>
            </p:cNvPr>
            <p:cNvSpPr/>
            <p:nvPr/>
          </p:nvSpPr>
          <p:spPr bwMode="auto">
            <a:xfrm>
              <a:off x="9144468" y="1311071"/>
              <a:ext cx="246367" cy="364813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 w="19050">
              <a:solidFill>
                <a:schemeClr val="accent2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4" name="Rectangle: Rounded Corners 16">
              <a:extLst>
                <a:ext uri="{FF2B5EF4-FFF2-40B4-BE49-F238E27FC236}">
                  <a16:creationId xmlns:a16="http://schemas.microsoft.com/office/drawing/2014/main" id="{35BD3E2A-667D-DFE5-F3F1-4EB6C756741D}"/>
                </a:ext>
              </a:extLst>
            </p:cNvPr>
            <p:cNvSpPr/>
            <p:nvPr/>
          </p:nvSpPr>
          <p:spPr bwMode="auto">
            <a:xfrm>
              <a:off x="9144468" y="1716105"/>
              <a:ext cx="246367" cy="364813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 w="19050">
              <a:solidFill>
                <a:schemeClr val="accent2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5" name="Rectangle: Rounded Corners 17">
              <a:extLst>
                <a:ext uri="{FF2B5EF4-FFF2-40B4-BE49-F238E27FC236}">
                  <a16:creationId xmlns:a16="http://schemas.microsoft.com/office/drawing/2014/main" id="{65E99345-DB1F-C609-8852-7D8CE725772D}"/>
                </a:ext>
              </a:extLst>
            </p:cNvPr>
            <p:cNvSpPr/>
            <p:nvPr/>
          </p:nvSpPr>
          <p:spPr bwMode="auto">
            <a:xfrm>
              <a:off x="9483614" y="1088443"/>
              <a:ext cx="246367" cy="364813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 w="19050">
              <a:solidFill>
                <a:schemeClr val="accent2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6" name="Rectangle: Rounded Corners 18">
              <a:extLst>
                <a:ext uri="{FF2B5EF4-FFF2-40B4-BE49-F238E27FC236}">
                  <a16:creationId xmlns:a16="http://schemas.microsoft.com/office/drawing/2014/main" id="{0DCF89CE-AE18-E4C5-25D9-3C64F53FD220}"/>
                </a:ext>
              </a:extLst>
            </p:cNvPr>
            <p:cNvSpPr/>
            <p:nvPr/>
          </p:nvSpPr>
          <p:spPr bwMode="auto">
            <a:xfrm>
              <a:off x="9483614" y="1493598"/>
              <a:ext cx="246367" cy="364813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 w="19050">
              <a:solidFill>
                <a:schemeClr val="accent2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7" name="Rectangle: Rounded Corners 19">
              <a:extLst>
                <a:ext uri="{FF2B5EF4-FFF2-40B4-BE49-F238E27FC236}">
                  <a16:creationId xmlns:a16="http://schemas.microsoft.com/office/drawing/2014/main" id="{4EF32D1F-C339-7BD6-B7AC-6EB8442F3522}"/>
                </a:ext>
              </a:extLst>
            </p:cNvPr>
            <p:cNvSpPr/>
            <p:nvPr/>
          </p:nvSpPr>
          <p:spPr bwMode="auto">
            <a:xfrm>
              <a:off x="9817464" y="909882"/>
              <a:ext cx="246367" cy="158520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 w="19050">
              <a:solidFill>
                <a:schemeClr val="accent2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8" name="Rectangle: Rounded Corners 20">
              <a:extLst>
                <a:ext uri="{FF2B5EF4-FFF2-40B4-BE49-F238E27FC236}">
                  <a16:creationId xmlns:a16="http://schemas.microsoft.com/office/drawing/2014/main" id="{E86D6693-A8AE-401C-C956-65812D2338CE}"/>
                </a:ext>
              </a:extLst>
            </p:cNvPr>
            <p:cNvSpPr/>
            <p:nvPr/>
          </p:nvSpPr>
          <p:spPr bwMode="auto">
            <a:xfrm>
              <a:off x="9817463" y="1101252"/>
              <a:ext cx="246367" cy="158520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 w="19050">
              <a:solidFill>
                <a:schemeClr val="accent2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9" name="Rectangle: Rounded Corners 21">
              <a:extLst>
                <a:ext uri="{FF2B5EF4-FFF2-40B4-BE49-F238E27FC236}">
                  <a16:creationId xmlns:a16="http://schemas.microsoft.com/office/drawing/2014/main" id="{0CF8A49A-A219-31B8-8FCF-2FF7D037D115}"/>
                </a:ext>
              </a:extLst>
            </p:cNvPr>
            <p:cNvSpPr/>
            <p:nvPr/>
          </p:nvSpPr>
          <p:spPr bwMode="auto">
            <a:xfrm>
              <a:off x="9817463" y="1291603"/>
              <a:ext cx="246367" cy="158520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 w="19050">
              <a:solidFill>
                <a:schemeClr val="accent2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20" name="Rectangle: Rounded Corners 22">
              <a:extLst>
                <a:ext uri="{FF2B5EF4-FFF2-40B4-BE49-F238E27FC236}">
                  <a16:creationId xmlns:a16="http://schemas.microsoft.com/office/drawing/2014/main" id="{F7345191-3012-CB8E-E31D-AB9D588A7354}"/>
                </a:ext>
              </a:extLst>
            </p:cNvPr>
            <p:cNvSpPr/>
            <p:nvPr/>
          </p:nvSpPr>
          <p:spPr bwMode="auto">
            <a:xfrm>
              <a:off x="9817788" y="1486178"/>
              <a:ext cx="246367" cy="158520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 w="19050">
              <a:solidFill>
                <a:schemeClr val="accent2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21" name="Rectangle: Rounded Corners 23">
              <a:extLst>
                <a:ext uri="{FF2B5EF4-FFF2-40B4-BE49-F238E27FC236}">
                  <a16:creationId xmlns:a16="http://schemas.microsoft.com/office/drawing/2014/main" id="{41E908B3-8730-4CDE-F966-D9BC101BE46D}"/>
                </a:ext>
              </a:extLst>
            </p:cNvPr>
            <p:cNvSpPr/>
            <p:nvPr/>
          </p:nvSpPr>
          <p:spPr bwMode="auto">
            <a:xfrm>
              <a:off x="9816031" y="1680368"/>
              <a:ext cx="246367" cy="158520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 w="19050">
              <a:solidFill>
                <a:schemeClr val="accent2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22" name="Rectangle: Rounded Corners 24">
              <a:extLst>
                <a:ext uri="{FF2B5EF4-FFF2-40B4-BE49-F238E27FC236}">
                  <a16:creationId xmlns:a16="http://schemas.microsoft.com/office/drawing/2014/main" id="{0F511262-8040-8BF9-2F7F-96A6C88983B4}"/>
                </a:ext>
              </a:extLst>
            </p:cNvPr>
            <p:cNvSpPr/>
            <p:nvPr/>
          </p:nvSpPr>
          <p:spPr bwMode="auto">
            <a:xfrm>
              <a:off x="9816030" y="1870078"/>
              <a:ext cx="246367" cy="158520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 w="19050">
              <a:solidFill>
                <a:schemeClr val="accent2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36ADDA9-20DF-5851-015A-A31E11F6C207}"/>
                </a:ext>
              </a:extLst>
            </p:cNvPr>
            <p:cNvSpPr txBox="1"/>
            <p:nvPr/>
          </p:nvSpPr>
          <p:spPr>
            <a:xfrm>
              <a:off x="7751856" y="2153468"/>
              <a:ext cx="487597" cy="369332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m="http://schemas.openxmlformats.org/officeDocument/2006/math" xmlns="" xmlns:a14="http://schemas.microsoft.com/office/drawing/2010/main" xmlns:mc="http://schemas.openxmlformats.org/markup-compatibility/2006" val="1"/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U</a:t>
              </a:r>
              <a:r>
                <a:rPr lang="en-US" baseline="-25000" dirty="0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Q</a:t>
              </a:r>
              <a:endParaRPr lang="en-CH" dirty="0">
                <a:solidFill>
                  <a:schemeClr val="accent2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37" name="Rectangle: Rounded Corners 60">
              <a:extLst>
                <a:ext uri="{FF2B5EF4-FFF2-40B4-BE49-F238E27FC236}">
                  <a16:creationId xmlns:a16="http://schemas.microsoft.com/office/drawing/2014/main" id="{6E4CEEDA-8AFF-DEA0-9BD9-8732CED1DFEA}"/>
                </a:ext>
              </a:extLst>
            </p:cNvPr>
            <p:cNvSpPr/>
            <p:nvPr/>
          </p:nvSpPr>
          <p:spPr bwMode="auto">
            <a:xfrm>
              <a:off x="7000077" y="906347"/>
              <a:ext cx="246367" cy="36481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38" name="Rectangle: Rounded Corners 61">
              <a:extLst>
                <a:ext uri="{FF2B5EF4-FFF2-40B4-BE49-F238E27FC236}">
                  <a16:creationId xmlns:a16="http://schemas.microsoft.com/office/drawing/2014/main" id="{05D03FA6-5202-6859-2601-F31099223EA8}"/>
                </a:ext>
              </a:extLst>
            </p:cNvPr>
            <p:cNvSpPr/>
            <p:nvPr/>
          </p:nvSpPr>
          <p:spPr bwMode="auto">
            <a:xfrm>
              <a:off x="7000076" y="1311381"/>
              <a:ext cx="246367" cy="36481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39" name="Rectangle: Rounded Corners 62">
              <a:extLst>
                <a:ext uri="{FF2B5EF4-FFF2-40B4-BE49-F238E27FC236}">
                  <a16:creationId xmlns:a16="http://schemas.microsoft.com/office/drawing/2014/main" id="{85765D66-91A2-323A-7E04-C92AC55F58A4}"/>
                </a:ext>
              </a:extLst>
            </p:cNvPr>
            <p:cNvSpPr/>
            <p:nvPr/>
          </p:nvSpPr>
          <p:spPr bwMode="auto">
            <a:xfrm>
              <a:off x="7000076" y="1716415"/>
              <a:ext cx="246367" cy="36481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40" name="Rectangle: Rounded Corners 63">
              <a:extLst>
                <a:ext uri="{FF2B5EF4-FFF2-40B4-BE49-F238E27FC236}">
                  <a16:creationId xmlns:a16="http://schemas.microsoft.com/office/drawing/2014/main" id="{9C891095-F7B2-C906-3B5F-DFF37631CB97}"/>
                </a:ext>
              </a:extLst>
            </p:cNvPr>
            <p:cNvSpPr/>
            <p:nvPr/>
          </p:nvSpPr>
          <p:spPr bwMode="auto">
            <a:xfrm>
              <a:off x="7339222" y="1088753"/>
              <a:ext cx="246367" cy="36481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41" name="Rectangle: Rounded Corners 64">
              <a:extLst>
                <a:ext uri="{FF2B5EF4-FFF2-40B4-BE49-F238E27FC236}">
                  <a16:creationId xmlns:a16="http://schemas.microsoft.com/office/drawing/2014/main" id="{0841C805-D801-FCDB-DE74-36F804445518}"/>
                </a:ext>
              </a:extLst>
            </p:cNvPr>
            <p:cNvSpPr/>
            <p:nvPr/>
          </p:nvSpPr>
          <p:spPr bwMode="auto">
            <a:xfrm>
              <a:off x="7339222" y="1493908"/>
              <a:ext cx="246367" cy="36481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42" name="Rectangle: Rounded Corners 65">
              <a:extLst>
                <a:ext uri="{FF2B5EF4-FFF2-40B4-BE49-F238E27FC236}">
                  <a16:creationId xmlns:a16="http://schemas.microsoft.com/office/drawing/2014/main" id="{DAD617E4-4446-DC05-89C6-DD3F5903A348}"/>
                </a:ext>
              </a:extLst>
            </p:cNvPr>
            <p:cNvSpPr/>
            <p:nvPr/>
          </p:nvSpPr>
          <p:spPr bwMode="auto">
            <a:xfrm>
              <a:off x="7673072" y="910192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43" name="Rectangle: Rounded Corners 66">
              <a:extLst>
                <a:ext uri="{FF2B5EF4-FFF2-40B4-BE49-F238E27FC236}">
                  <a16:creationId xmlns:a16="http://schemas.microsoft.com/office/drawing/2014/main" id="{C134C93E-0DD4-EAA4-82F6-95556061B3DE}"/>
                </a:ext>
              </a:extLst>
            </p:cNvPr>
            <p:cNvSpPr/>
            <p:nvPr/>
          </p:nvSpPr>
          <p:spPr bwMode="auto">
            <a:xfrm>
              <a:off x="7673071" y="1101562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44" name="Rectangle: Rounded Corners 67">
              <a:extLst>
                <a:ext uri="{FF2B5EF4-FFF2-40B4-BE49-F238E27FC236}">
                  <a16:creationId xmlns:a16="http://schemas.microsoft.com/office/drawing/2014/main" id="{7B70F754-E2B5-AF6F-072B-F84E4B7D9BE3}"/>
                </a:ext>
              </a:extLst>
            </p:cNvPr>
            <p:cNvSpPr/>
            <p:nvPr/>
          </p:nvSpPr>
          <p:spPr bwMode="auto">
            <a:xfrm>
              <a:off x="7673071" y="1291913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45" name="Rectangle: Rounded Corners 68">
              <a:extLst>
                <a:ext uri="{FF2B5EF4-FFF2-40B4-BE49-F238E27FC236}">
                  <a16:creationId xmlns:a16="http://schemas.microsoft.com/office/drawing/2014/main" id="{66D99E26-8CA8-1087-BA53-A8A5A3409EE1}"/>
                </a:ext>
              </a:extLst>
            </p:cNvPr>
            <p:cNvSpPr/>
            <p:nvPr/>
          </p:nvSpPr>
          <p:spPr bwMode="auto">
            <a:xfrm>
              <a:off x="7673396" y="1486488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46" name="Rectangle: Rounded Corners 69">
              <a:extLst>
                <a:ext uri="{FF2B5EF4-FFF2-40B4-BE49-F238E27FC236}">
                  <a16:creationId xmlns:a16="http://schemas.microsoft.com/office/drawing/2014/main" id="{63B191D8-926D-FFCD-02D5-C4A0DECC4D0D}"/>
                </a:ext>
              </a:extLst>
            </p:cNvPr>
            <p:cNvSpPr/>
            <p:nvPr/>
          </p:nvSpPr>
          <p:spPr bwMode="auto">
            <a:xfrm>
              <a:off x="7671639" y="1680678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47" name="Rectangle: Rounded Corners 70">
              <a:extLst>
                <a:ext uri="{FF2B5EF4-FFF2-40B4-BE49-F238E27FC236}">
                  <a16:creationId xmlns:a16="http://schemas.microsoft.com/office/drawing/2014/main" id="{B7BFD111-A60E-3288-15E6-7E03CD5DE957}"/>
                </a:ext>
              </a:extLst>
            </p:cNvPr>
            <p:cNvSpPr/>
            <p:nvPr/>
          </p:nvSpPr>
          <p:spPr bwMode="auto">
            <a:xfrm>
              <a:off x="7671638" y="1870388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49" name="Rectangle: Rounded Corners 89">
              <a:extLst>
                <a:ext uri="{FF2B5EF4-FFF2-40B4-BE49-F238E27FC236}">
                  <a16:creationId xmlns:a16="http://schemas.microsoft.com/office/drawing/2014/main" id="{A46AE9FB-F918-1FA4-67C3-3510C3C7B82E}"/>
                </a:ext>
              </a:extLst>
            </p:cNvPr>
            <p:cNvSpPr/>
            <p:nvPr/>
          </p:nvSpPr>
          <p:spPr bwMode="auto">
            <a:xfrm>
              <a:off x="8023491" y="905855"/>
              <a:ext cx="246367" cy="36481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50" name="Rectangle: Rounded Corners 90">
              <a:extLst>
                <a:ext uri="{FF2B5EF4-FFF2-40B4-BE49-F238E27FC236}">
                  <a16:creationId xmlns:a16="http://schemas.microsoft.com/office/drawing/2014/main" id="{A52FBDCA-9872-AE06-A34F-37498625DCB1}"/>
                </a:ext>
              </a:extLst>
            </p:cNvPr>
            <p:cNvSpPr/>
            <p:nvPr/>
          </p:nvSpPr>
          <p:spPr bwMode="auto">
            <a:xfrm>
              <a:off x="8023490" y="1310889"/>
              <a:ext cx="246367" cy="36481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51" name="Rectangle: Rounded Corners 91">
              <a:extLst>
                <a:ext uri="{FF2B5EF4-FFF2-40B4-BE49-F238E27FC236}">
                  <a16:creationId xmlns:a16="http://schemas.microsoft.com/office/drawing/2014/main" id="{8D2889F6-1E51-F8A9-43F0-69DE1DDC23D4}"/>
                </a:ext>
              </a:extLst>
            </p:cNvPr>
            <p:cNvSpPr/>
            <p:nvPr/>
          </p:nvSpPr>
          <p:spPr bwMode="auto">
            <a:xfrm>
              <a:off x="8023490" y="1715923"/>
              <a:ext cx="246367" cy="36481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52" name="Rectangle: Rounded Corners 92">
              <a:extLst>
                <a:ext uri="{FF2B5EF4-FFF2-40B4-BE49-F238E27FC236}">
                  <a16:creationId xmlns:a16="http://schemas.microsoft.com/office/drawing/2014/main" id="{05DC1A42-C7E4-DDD7-AE7D-080413ACF63E}"/>
                </a:ext>
              </a:extLst>
            </p:cNvPr>
            <p:cNvSpPr/>
            <p:nvPr/>
          </p:nvSpPr>
          <p:spPr bwMode="auto">
            <a:xfrm>
              <a:off x="8362636" y="1088261"/>
              <a:ext cx="246367" cy="36481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53" name="Rectangle: Rounded Corners 93">
              <a:extLst>
                <a:ext uri="{FF2B5EF4-FFF2-40B4-BE49-F238E27FC236}">
                  <a16:creationId xmlns:a16="http://schemas.microsoft.com/office/drawing/2014/main" id="{409993A9-DE63-B83E-380A-C6E6896118AC}"/>
                </a:ext>
              </a:extLst>
            </p:cNvPr>
            <p:cNvSpPr/>
            <p:nvPr/>
          </p:nvSpPr>
          <p:spPr bwMode="auto">
            <a:xfrm>
              <a:off x="8362636" y="1493416"/>
              <a:ext cx="246367" cy="36481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54" name="Rectangle: Rounded Corners 94">
              <a:extLst>
                <a:ext uri="{FF2B5EF4-FFF2-40B4-BE49-F238E27FC236}">
                  <a16:creationId xmlns:a16="http://schemas.microsoft.com/office/drawing/2014/main" id="{B28FD130-90AA-2318-8AC5-184017FB1613}"/>
                </a:ext>
              </a:extLst>
            </p:cNvPr>
            <p:cNvSpPr/>
            <p:nvPr/>
          </p:nvSpPr>
          <p:spPr bwMode="auto">
            <a:xfrm>
              <a:off x="8696486" y="909700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55" name="Rectangle: Rounded Corners 95">
              <a:extLst>
                <a:ext uri="{FF2B5EF4-FFF2-40B4-BE49-F238E27FC236}">
                  <a16:creationId xmlns:a16="http://schemas.microsoft.com/office/drawing/2014/main" id="{3223A403-77FD-EF39-11AB-CF34F71BFA33}"/>
                </a:ext>
              </a:extLst>
            </p:cNvPr>
            <p:cNvSpPr/>
            <p:nvPr/>
          </p:nvSpPr>
          <p:spPr bwMode="auto">
            <a:xfrm>
              <a:off x="8696485" y="1101070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56" name="Rectangle: Rounded Corners 96">
              <a:extLst>
                <a:ext uri="{FF2B5EF4-FFF2-40B4-BE49-F238E27FC236}">
                  <a16:creationId xmlns:a16="http://schemas.microsoft.com/office/drawing/2014/main" id="{15B174EB-8E3B-252A-81CB-6596BD896C00}"/>
                </a:ext>
              </a:extLst>
            </p:cNvPr>
            <p:cNvSpPr/>
            <p:nvPr/>
          </p:nvSpPr>
          <p:spPr bwMode="auto">
            <a:xfrm>
              <a:off x="8696485" y="1291421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57" name="Rectangle: Rounded Corners 97">
              <a:extLst>
                <a:ext uri="{FF2B5EF4-FFF2-40B4-BE49-F238E27FC236}">
                  <a16:creationId xmlns:a16="http://schemas.microsoft.com/office/drawing/2014/main" id="{42576E4A-C078-FF90-35CB-3E4B165EAE53}"/>
                </a:ext>
              </a:extLst>
            </p:cNvPr>
            <p:cNvSpPr/>
            <p:nvPr/>
          </p:nvSpPr>
          <p:spPr bwMode="auto">
            <a:xfrm>
              <a:off x="8696810" y="1485996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58" name="Rectangle: Rounded Corners 98">
              <a:extLst>
                <a:ext uri="{FF2B5EF4-FFF2-40B4-BE49-F238E27FC236}">
                  <a16:creationId xmlns:a16="http://schemas.microsoft.com/office/drawing/2014/main" id="{8C47A80A-F182-EC7E-7BA1-0B5DD653D106}"/>
                </a:ext>
              </a:extLst>
            </p:cNvPr>
            <p:cNvSpPr/>
            <p:nvPr/>
          </p:nvSpPr>
          <p:spPr bwMode="auto">
            <a:xfrm>
              <a:off x="8695053" y="1680186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59" name="Rectangle: Rounded Corners 99">
              <a:extLst>
                <a:ext uri="{FF2B5EF4-FFF2-40B4-BE49-F238E27FC236}">
                  <a16:creationId xmlns:a16="http://schemas.microsoft.com/office/drawing/2014/main" id="{686BE59F-D9DE-AB39-9B8B-926FE5023CF4}"/>
                </a:ext>
              </a:extLst>
            </p:cNvPr>
            <p:cNvSpPr/>
            <p:nvPr/>
          </p:nvSpPr>
          <p:spPr bwMode="auto">
            <a:xfrm>
              <a:off x="8695052" y="1869896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37" name="Rounded Rectangle 136">
              <a:extLst>
                <a:ext uri="{FF2B5EF4-FFF2-40B4-BE49-F238E27FC236}">
                  <a16:creationId xmlns:a16="http://schemas.microsoft.com/office/drawing/2014/main" id="{327727E1-53E6-396F-8333-13CC1EC51360}"/>
                </a:ext>
              </a:extLst>
            </p:cNvPr>
            <p:cNvSpPr/>
            <p:nvPr/>
          </p:nvSpPr>
          <p:spPr bwMode="auto">
            <a:xfrm>
              <a:off x="6934291" y="782261"/>
              <a:ext cx="2066636" cy="1364673"/>
            </a:xfrm>
            <a:prstGeom prst="roundRect">
              <a:avLst>
                <a:gd name="adj" fmla="val 5499"/>
              </a:avLst>
            </a:prstGeom>
            <a:noFill/>
            <a:ln w="19050">
              <a:solidFill>
                <a:srgbClr val="161616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38" name="Rounded Rectangle 137">
              <a:extLst>
                <a:ext uri="{FF2B5EF4-FFF2-40B4-BE49-F238E27FC236}">
                  <a16:creationId xmlns:a16="http://schemas.microsoft.com/office/drawing/2014/main" id="{CED4F184-36DA-073B-CD45-1ACDCA94C32D}"/>
                </a:ext>
              </a:extLst>
            </p:cNvPr>
            <p:cNvSpPr/>
            <p:nvPr/>
          </p:nvSpPr>
          <p:spPr bwMode="auto">
            <a:xfrm>
              <a:off x="9086140" y="790933"/>
              <a:ext cx="1032387" cy="1364673"/>
            </a:xfrm>
            <a:prstGeom prst="roundRect">
              <a:avLst>
                <a:gd name="adj" fmla="val 5499"/>
              </a:avLst>
            </a:prstGeom>
            <a:noFill/>
            <a:ln w="19050">
              <a:solidFill>
                <a:srgbClr val="161616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57897CD3-CEF2-191C-99DA-0B67A04D60DE}"/>
                </a:ext>
              </a:extLst>
            </p:cNvPr>
            <p:cNvSpPr txBox="1"/>
            <p:nvPr/>
          </p:nvSpPr>
          <p:spPr>
            <a:xfrm>
              <a:off x="9379889" y="2180386"/>
              <a:ext cx="487597" cy="369332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m="http://schemas.openxmlformats.org/officeDocument/2006/math" xmlns="" xmlns:a14="http://schemas.microsoft.com/office/drawing/2010/main" xmlns:mc="http://schemas.openxmlformats.org/markup-compatibility/2006" val="1"/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U</a:t>
              </a:r>
              <a:r>
                <a:rPr lang="en-US" baseline="-25000" dirty="0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C</a:t>
              </a:r>
              <a:endParaRPr lang="en-CH" dirty="0">
                <a:solidFill>
                  <a:schemeClr val="accent2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5EADB6F2-96B4-6BDB-3EFE-E0F4684B815E}"/>
                </a:ext>
              </a:extLst>
            </p:cNvPr>
            <p:cNvGrpSpPr/>
            <p:nvPr/>
          </p:nvGrpSpPr>
          <p:grpSpPr>
            <a:xfrm>
              <a:off x="10404855" y="1291421"/>
              <a:ext cx="364521" cy="426533"/>
              <a:chOff x="6722076" y="2946573"/>
              <a:chExt cx="364521" cy="426533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76B483F5-6F8C-5A9D-13B0-963D12D2AE9B}"/>
                  </a:ext>
                </a:extLst>
              </p:cNvPr>
              <p:cNvSpPr/>
              <p:nvPr/>
            </p:nvSpPr>
            <p:spPr bwMode="auto">
              <a:xfrm>
                <a:off x="6722076" y="2946573"/>
                <a:ext cx="364521" cy="330025"/>
              </a:xfrm>
              <a:prstGeom prst="rect">
                <a:avLst/>
              </a:prstGeom>
              <a:noFill/>
              <a:ln w="19050">
                <a:solidFill>
                  <a:srgbClr val="16161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91440" rIns="91440" bIns="9144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IBM Plex Sans Light"/>
                  <a:buNone/>
                  <a:tabLst/>
                </a:pPr>
                <a:endPara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41" name="Block Arc 140">
                <a:extLst>
                  <a:ext uri="{FF2B5EF4-FFF2-40B4-BE49-F238E27FC236}">
                    <a16:creationId xmlns:a16="http://schemas.microsoft.com/office/drawing/2014/main" id="{2E058C0B-D8B9-EEF0-52B4-67AF478DEA79}"/>
                  </a:ext>
                </a:extLst>
              </p:cNvPr>
              <p:cNvSpPr/>
              <p:nvPr/>
            </p:nvSpPr>
            <p:spPr bwMode="auto">
              <a:xfrm>
                <a:off x="6783687" y="3094016"/>
                <a:ext cx="241297" cy="279090"/>
              </a:xfrm>
              <a:prstGeom prst="blockArc">
                <a:avLst>
                  <a:gd name="adj1" fmla="val 10800000"/>
                  <a:gd name="adj2" fmla="val 21373037"/>
                  <a:gd name="adj3" fmla="val 6064"/>
                </a:avLst>
              </a:prstGeom>
              <a:solidFill>
                <a:schemeClr val="tx1"/>
              </a:solidFill>
              <a:ln w="19050">
                <a:solidFill>
                  <a:srgbClr val="16161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91440" rIns="91440" bIns="9144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IBM Plex Sans Light"/>
                  <a:buNone/>
                  <a:tabLst/>
                </a:pPr>
                <a:endPara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n-lt"/>
                </a:endParaRPr>
              </a:p>
            </p:txBody>
          </p:sp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AE930E48-1247-E876-C6C7-2268B838626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6784975" y="3003550"/>
                <a:ext cx="119360" cy="22217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17678419-1A47-E5CD-911D-EB2D1271D76A}"/>
                    </a:ext>
                  </a:extLst>
                </p:cNvPr>
                <p:cNvSpPr txBox="1"/>
                <p:nvPr/>
              </p:nvSpPr>
              <p:spPr>
                <a:xfrm>
                  <a:off x="10808509" y="1225600"/>
                  <a:ext cx="395900" cy="461665"/>
                </a:xfrm>
                <a:prstGeom prst="rect">
                  <a:avLst/>
                </a:prstGeom>
                <a:noFill/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en-CH" sz="24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17678419-1A47-E5CD-911D-EB2D1271D7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8509" y="1225600"/>
                  <a:ext cx="395900" cy="461665"/>
                </a:xfrm>
                <a:prstGeom prst="rect">
                  <a:avLst/>
                </a:prstGeom>
                <a:blipFill>
                  <a:blip r:embed="rId2"/>
                  <a:stretch>
                    <a:fillRect l="-12308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a14="http://schemas.microsoft.com/office/drawing/2010/main"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3F7A36F1-B3EE-D1F9-CA13-3678EB6573CA}"/>
              </a:ext>
            </a:extLst>
          </p:cNvPr>
          <p:cNvGrpSpPr/>
          <p:nvPr/>
        </p:nvGrpSpPr>
        <p:grpSpPr>
          <a:xfrm>
            <a:off x="1014322" y="4320538"/>
            <a:ext cx="4510833" cy="1740539"/>
            <a:chOff x="6822706" y="3444381"/>
            <a:chExt cx="4510833" cy="1740539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6F68F652-04CF-5A23-05A1-83224D8337B2}"/>
                </a:ext>
              </a:extLst>
            </p:cNvPr>
            <p:cNvGrpSpPr/>
            <p:nvPr/>
          </p:nvGrpSpPr>
          <p:grpSpPr>
            <a:xfrm>
              <a:off x="6822706" y="3653827"/>
              <a:ext cx="2321762" cy="965342"/>
              <a:chOff x="8693539" y="3515157"/>
              <a:chExt cx="1111205" cy="965342"/>
            </a:xfrm>
          </p:grpSpPr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1B338215-9A3B-AF22-CE41-3A56B974F94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693539" y="3515157"/>
                <a:ext cx="11112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B8CC58E2-47BB-EE65-C125-E67AD35DCDC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693539" y="3708225"/>
                <a:ext cx="11112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CCE983A3-B5F0-4A51-0011-5A9049B46EE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693539" y="3901293"/>
                <a:ext cx="11112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337991CB-C4BF-CD9F-8115-1929A476D18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693539" y="4094361"/>
                <a:ext cx="11112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9B3C380A-116D-8CAB-EEAD-467600C4320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693539" y="4287429"/>
                <a:ext cx="11112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E9FB701D-DBD8-0B0B-5990-46EECB1857B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693539" y="4480499"/>
                <a:ext cx="11112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09A4E16-E46C-A54F-90B0-E01BD3735AE3}"/>
                </a:ext>
              </a:extLst>
            </p:cNvPr>
            <p:cNvSpPr txBox="1"/>
            <p:nvPr/>
          </p:nvSpPr>
          <p:spPr>
            <a:xfrm>
              <a:off x="7751856" y="4815588"/>
              <a:ext cx="487597" cy="369332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m="http://schemas.openxmlformats.org/officeDocument/2006/math" xmlns="" xmlns:a14="http://schemas.microsoft.com/office/drawing/2010/main" xmlns:mc="http://schemas.openxmlformats.org/markup-compatibility/2006" val="1"/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U</a:t>
              </a:r>
              <a:r>
                <a:rPr lang="en-US" baseline="-25000" dirty="0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Q</a:t>
              </a:r>
              <a:endParaRPr lang="en-CH" dirty="0">
                <a:solidFill>
                  <a:schemeClr val="accent2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67" name="Rectangle: Rounded Corners 60">
              <a:extLst>
                <a:ext uri="{FF2B5EF4-FFF2-40B4-BE49-F238E27FC236}">
                  <a16:creationId xmlns:a16="http://schemas.microsoft.com/office/drawing/2014/main" id="{3439E0A5-06E8-0A9E-B5FD-D4F1C57C525C}"/>
                </a:ext>
              </a:extLst>
            </p:cNvPr>
            <p:cNvSpPr/>
            <p:nvPr/>
          </p:nvSpPr>
          <p:spPr bwMode="auto">
            <a:xfrm>
              <a:off x="7000077" y="3568467"/>
              <a:ext cx="246367" cy="36481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68" name="Rectangle: Rounded Corners 61">
              <a:extLst>
                <a:ext uri="{FF2B5EF4-FFF2-40B4-BE49-F238E27FC236}">
                  <a16:creationId xmlns:a16="http://schemas.microsoft.com/office/drawing/2014/main" id="{2B22EAE2-EFCF-E117-928C-55F3806E48D9}"/>
                </a:ext>
              </a:extLst>
            </p:cNvPr>
            <p:cNvSpPr/>
            <p:nvPr/>
          </p:nvSpPr>
          <p:spPr bwMode="auto">
            <a:xfrm>
              <a:off x="7000076" y="3973501"/>
              <a:ext cx="246367" cy="36481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69" name="Rectangle: Rounded Corners 62">
              <a:extLst>
                <a:ext uri="{FF2B5EF4-FFF2-40B4-BE49-F238E27FC236}">
                  <a16:creationId xmlns:a16="http://schemas.microsoft.com/office/drawing/2014/main" id="{D92E7D70-1CC9-F597-C2D3-499205CABF37}"/>
                </a:ext>
              </a:extLst>
            </p:cNvPr>
            <p:cNvSpPr/>
            <p:nvPr/>
          </p:nvSpPr>
          <p:spPr bwMode="auto">
            <a:xfrm>
              <a:off x="7000076" y="4378535"/>
              <a:ext cx="246367" cy="36481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70" name="Rectangle: Rounded Corners 63">
              <a:extLst>
                <a:ext uri="{FF2B5EF4-FFF2-40B4-BE49-F238E27FC236}">
                  <a16:creationId xmlns:a16="http://schemas.microsoft.com/office/drawing/2014/main" id="{751AC24D-C76B-3058-BDA5-4D096E768990}"/>
                </a:ext>
              </a:extLst>
            </p:cNvPr>
            <p:cNvSpPr/>
            <p:nvPr/>
          </p:nvSpPr>
          <p:spPr bwMode="auto">
            <a:xfrm>
              <a:off x="7339222" y="3750873"/>
              <a:ext cx="246367" cy="36481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71" name="Rectangle: Rounded Corners 64">
              <a:extLst>
                <a:ext uri="{FF2B5EF4-FFF2-40B4-BE49-F238E27FC236}">
                  <a16:creationId xmlns:a16="http://schemas.microsoft.com/office/drawing/2014/main" id="{0967FBCB-5912-6F60-76C7-C89D4FF72D03}"/>
                </a:ext>
              </a:extLst>
            </p:cNvPr>
            <p:cNvSpPr/>
            <p:nvPr/>
          </p:nvSpPr>
          <p:spPr bwMode="auto">
            <a:xfrm>
              <a:off x="7339222" y="4156028"/>
              <a:ext cx="246367" cy="36481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72" name="Rectangle: Rounded Corners 65">
              <a:extLst>
                <a:ext uri="{FF2B5EF4-FFF2-40B4-BE49-F238E27FC236}">
                  <a16:creationId xmlns:a16="http://schemas.microsoft.com/office/drawing/2014/main" id="{847A074D-9B63-77F5-9305-6D46C74E74EA}"/>
                </a:ext>
              </a:extLst>
            </p:cNvPr>
            <p:cNvSpPr/>
            <p:nvPr/>
          </p:nvSpPr>
          <p:spPr bwMode="auto">
            <a:xfrm>
              <a:off x="7673072" y="3572312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73" name="Rectangle: Rounded Corners 66">
              <a:extLst>
                <a:ext uri="{FF2B5EF4-FFF2-40B4-BE49-F238E27FC236}">
                  <a16:creationId xmlns:a16="http://schemas.microsoft.com/office/drawing/2014/main" id="{6D13E7D7-F2CB-93DE-A73C-F5183CE78B80}"/>
                </a:ext>
              </a:extLst>
            </p:cNvPr>
            <p:cNvSpPr/>
            <p:nvPr/>
          </p:nvSpPr>
          <p:spPr bwMode="auto">
            <a:xfrm>
              <a:off x="7673071" y="3763682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74" name="Rectangle: Rounded Corners 67">
              <a:extLst>
                <a:ext uri="{FF2B5EF4-FFF2-40B4-BE49-F238E27FC236}">
                  <a16:creationId xmlns:a16="http://schemas.microsoft.com/office/drawing/2014/main" id="{5C440AD3-EF29-5339-2DF8-7616E48D0688}"/>
                </a:ext>
              </a:extLst>
            </p:cNvPr>
            <p:cNvSpPr/>
            <p:nvPr/>
          </p:nvSpPr>
          <p:spPr bwMode="auto">
            <a:xfrm>
              <a:off x="7673071" y="3954033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75" name="Rectangle: Rounded Corners 68">
              <a:extLst>
                <a:ext uri="{FF2B5EF4-FFF2-40B4-BE49-F238E27FC236}">
                  <a16:creationId xmlns:a16="http://schemas.microsoft.com/office/drawing/2014/main" id="{34B642E2-92B0-FDC1-9B00-AFB16F417E5E}"/>
                </a:ext>
              </a:extLst>
            </p:cNvPr>
            <p:cNvSpPr/>
            <p:nvPr/>
          </p:nvSpPr>
          <p:spPr bwMode="auto">
            <a:xfrm>
              <a:off x="7673396" y="4148608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76" name="Rectangle: Rounded Corners 69">
              <a:extLst>
                <a:ext uri="{FF2B5EF4-FFF2-40B4-BE49-F238E27FC236}">
                  <a16:creationId xmlns:a16="http://schemas.microsoft.com/office/drawing/2014/main" id="{CA1A8E9C-7880-A6B7-9D18-71313BCDE277}"/>
                </a:ext>
              </a:extLst>
            </p:cNvPr>
            <p:cNvSpPr/>
            <p:nvPr/>
          </p:nvSpPr>
          <p:spPr bwMode="auto">
            <a:xfrm>
              <a:off x="7671639" y="4342798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77" name="Rectangle: Rounded Corners 70">
              <a:extLst>
                <a:ext uri="{FF2B5EF4-FFF2-40B4-BE49-F238E27FC236}">
                  <a16:creationId xmlns:a16="http://schemas.microsoft.com/office/drawing/2014/main" id="{CC619F86-5AAD-1FE4-7D05-188DB820CDAE}"/>
                </a:ext>
              </a:extLst>
            </p:cNvPr>
            <p:cNvSpPr/>
            <p:nvPr/>
          </p:nvSpPr>
          <p:spPr bwMode="auto">
            <a:xfrm>
              <a:off x="7671638" y="4532508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78" name="Rectangle: Rounded Corners 89">
              <a:extLst>
                <a:ext uri="{FF2B5EF4-FFF2-40B4-BE49-F238E27FC236}">
                  <a16:creationId xmlns:a16="http://schemas.microsoft.com/office/drawing/2014/main" id="{47D152D0-A192-F909-EB37-8A4DA682705E}"/>
                </a:ext>
              </a:extLst>
            </p:cNvPr>
            <p:cNvSpPr/>
            <p:nvPr/>
          </p:nvSpPr>
          <p:spPr bwMode="auto">
            <a:xfrm>
              <a:off x="8023491" y="3567975"/>
              <a:ext cx="246367" cy="36481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79" name="Rectangle: Rounded Corners 90">
              <a:extLst>
                <a:ext uri="{FF2B5EF4-FFF2-40B4-BE49-F238E27FC236}">
                  <a16:creationId xmlns:a16="http://schemas.microsoft.com/office/drawing/2014/main" id="{E6D5E95D-1E13-B428-4D8F-528325A1D89F}"/>
                </a:ext>
              </a:extLst>
            </p:cNvPr>
            <p:cNvSpPr/>
            <p:nvPr/>
          </p:nvSpPr>
          <p:spPr bwMode="auto">
            <a:xfrm>
              <a:off x="8023490" y="3973009"/>
              <a:ext cx="246367" cy="36481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80" name="Rectangle: Rounded Corners 91">
              <a:extLst>
                <a:ext uri="{FF2B5EF4-FFF2-40B4-BE49-F238E27FC236}">
                  <a16:creationId xmlns:a16="http://schemas.microsoft.com/office/drawing/2014/main" id="{CE2BC032-F7BA-AF8B-EBB6-B14E4C08689E}"/>
                </a:ext>
              </a:extLst>
            </p:cNvPr>
            <p:cNvSpPr/>
            <p:nvPr/>
          </p:nvSpPr>
          <p:spPr bwMode="auto">
            <a:xfrm>
              <a:off x="8023490" y="4378043"/>
              <a:ext cx="246367" cy="36481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81" name="Rectangle: Rounded Corners 92">
              <a:extLst>
                <a:ext uri="{FF2B5EF4-FFF2-40B4-BE49-F238E27FC236}">
                  <a16:creationId xmlns:a16="http://schemas.microsoft.com/office/drawing/2014/main" id="{54A9F8EC-274D-2ED9-CB7A-7F04401548A9}"/>
                </a:ext>
              </a:extLst>
            </p:cNvPr>
            <p:cNvSpPr/>
            <p:nvPr/>
          </p:nvSpPr>
          <p:spPr bwMode="auto">
            <a:xfrm>
              <a:off x="8362636" y="3750381"/>
              <a:ext cx="246367" cy="36481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82" name="Rectangle: Rounded Corners 93">
              <a:extLst>
                <a:ext uri="{FF2B5EF4-FFF2-40B4-BE49-F238E27FC236}">
                  <a16:creationId xmlns:a16="http://schemas.microsoft.com/office/drawing/2014/main" id="{B73A2212-4499-2DD1-2DDD-F4D39EBEDD39}"/>
                </a:ext>
              </a:extLst>
            </p:cNvPr>
            <p:cNvSpPr/>
            <p:nvPr/>
          </p:nvSpPr>
          <p:spPr bwMode="auto">
            <a:xfrm>
              <a:off x="8362636" y="4155536"/>
              <a:ext cx="246367" cy="36481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83" name="Rectangle: Rounded Corners 94">
              <a:extLst>
                <a:ext uri="{FF2B5EF4-FFF2-40B4-BE49-F238E27FC236}">
                  <a16:creationId xmlns:a16="http://schemas.microsoft.com/office/drawing/2014/main" id="{008A8962-952E-5F8B-099B-79716DDDCC07}"/>
                </a:ext>
              </a:extLst>
            </p:cNvPr>
            <p:cNvSpPr/>
            <p:nvPr/>
          </p:nvSpPr>
          <p:spPr bwMode="auto">
            <a:xfrm>
              <a:off x="8696486" y="3571820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84" name="Rectangle: Rounded Corners 95">
              <a:extLst>
                <a:ext uri="{FF2B5EF4-FFF2-40B4-BE49-F238E27FC236}">
                  <a16:creationId xmlns:a16="http://schemas.microsoft.com/office/drawing/2014/main" id="{956086E8-54E3-6849-2D2D-BEB762351C6D}"/>
                </a:ext>
              </a:extLst>
            </p:cNvPr>
            <p:cNvSpPr/>
            <p:nvPr/>
          </p:nvSpPr>
          <p:spPr bwMode="auto">
            <a:xfrm>
              <a:off x="8696485" y="3763190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85" name="Rectangle: Rounded Corners 96">
              <a:extLst>
                <a:ext uri="{FF2B5EF4-FFF2-40B4-BE49-F238E27FC236}">
                  <a16:creationId xmlns:a16="http://schemas.microsoft.com/office/drawing/2014/main" id="{327D96E4-0640-E4B0-9427-0785FEAC67DD}"/>
                </a:ext>
              </a:extLst>
            </p:cNvPr>
            <p:cNvSpPr/>
            <p:nvPr/>
          </p:nvSpPr>
          <p:spPr bwMode="auto">
            <a:xfrm>
              <a:off x="8696485" y="3953541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86" name="Rectangle: Rounded Corners 97">
              <a:extLst>
                <a:ext uri="{FF2B5EF4-FFF2-40B4-BE49-F238E27FC236}">
                  <a16:creationId xmlns:a16="http://schemas.microsoft.com/office/drawing/2014/main" id="{ACD1F441-1FA4-B3F2-286A-D5D5F8EDD52F}"/>
                </a:ext>
              </a:extLst>
            </p:cNvPr>
            <p:cNvSpPr/>
            <p:nvPr/>
          </p:nvSpPr>
          <p:spPr bwMode="auto">
            <a:xfrm>
              <a:off x="8696810" y="4148116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87" name="Rectangle: Rounded Corners 98">
              <a:extLst>
                <a:ext uri="{FF2B5EF4-FFF2-40B4-BE49-F238E27FC236}">
                  <a16:creationId xmlns:a16="http://schemas.microsoft.com/office/drawing/2014/main" id="{B0014D54-6538-C3F4-CEF0-D92CE0F30290}"/>
                </a:ext>
              </a:extLst>
            </p:cNvPr>
            <p:cNvSpPr/>
            <p:nvPr/>
          </p:nvSpPr>
          <p:spPr bwMode="auto">
            <a:xfrm>
              <a:off x="8695053" y="4342306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88" name="Rectangle: Rounded Corners 99">
              <a:extLst>
                <a:ext uri="{FF2B5EF4-FFF2-40B4-BE49-F238E27FC236}">
                  <a16:creationId xmlns:a16="http://schemas.microsoft.com/office/drawing/2014/main" id="{FC4C1736-3E6B-8DF3-C408-7B3325A2ECAC}"/>
                </a:ext>
              </a:extLst>
            </p:cNvPr>
            <p:cNvSpPr/>
            <p:nvPr/>
          </p:nvSpPr>
          <p:spPr bwMode="auto">
            <a:xfrm>
              <a:off x="8695052" y="4532016"/>
              <a:ext cx="246367" cy="1585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H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89" name="Rounded Rectangle 188">
              <a:extLst>
                <a:ext uri="{FF2B5EF4-FFF2-40B4-BE49-F238E27FC236}">
                  <a16:creationId xmlns:a16="http://schemas.microsoft.com/office/drawing/2014/main" id="{677D184B-5B27-6DC8-C6FA-7DD8BD2B7A51}"/>
                </a:ext>
              </a:extLst>
            </p:cNvPr>
            <p:cNvSpPr/>
            <p:nvPr/>
          </p:nvSpPr>
          <p:spPr bwMode="auto">
            <a:xfrm>
              <a:off x="6934291" y="3444381"/>
              <a:ext cx="2066636" cy="1364673"/>
            </a:xfrm>
            <a:prstGeom prst="roundRect">
              <a:avLst>
                <a:gd name="adj" fmla="val 5499"/>
              </a:avLst>
            </a:prstGeom>
            <a:noFill/>
            <a:ln w="19050">
              <a:solidFill>
                <a:srgbClr val="161616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6E888421-060A-3B89-74E3-DB40E688BF8B}"/>
                </a:ext>
              </a:extLst>
            </p:cNvPr>
            <p:cNvGrpSpPr/>
            <p:nvPr/>
          </p:nvGrpSpPr>
          <p:grpSpPr>
            <a:xfrm>
              <a:off x="9345392" y="3953541"/>
              <a:ext cx="364521" cy="426533"/>
              <a:chOff x="6722076" y="2946573"/>
              <a:chExt cx="364521" cy="426533"/>
            </a:xfrm>
          </p:grpSpPr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819041AE-E260-DF6F-E987-45BE0C1D2C65}"/>
                  </a:ext>
                </a:extLst>
              </p:cNvPr>
              <p:cNvSpPr/>
              <p:nvPr/>
            </p:nvSpPr>
            <p:spPr bwMode="auto">
              <a:xfrm>
                <a:off x="6722076" y="2946573"/>
                <a:ext cx="364521" cy="330025"/>
              </a:xfrm>
              <a:prstGeom prst="rect">
                <a:avLst/>
              </a:prstGeom>
              <a:noFill/>
              <a:ln w="19050">
                <a:solidFill>
                  <a:srgbClr val="16161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91440" rIns="91440" bIns="9144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IBM Plex Sans Light"/>
                  <a:buNone/>
                  <a:tabLst/>
                </a:pPr>
                <a:endPara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94" name="Block Arc 193">
                <a:extLst>
                  <a:ext uri="{FF2B5EF4-FFF2-40B4-BE49-F238E27FC236}">
                    <a16:creationId xmlns:a16="http://schemas.microsoft.com/office/drawing/2014/main" id="{2CD093CD-A6B4-F5E3-53BC-7D0F26430667}"/>
                  </a:ext>
                </a:extLst>
              </p:cNvPr>
              <p:cNvSpPr/>
              <p:nvPr/>
            </p:nvSpPr>
            <p:spPr bwMode="auto">
              <a:xfrm>
                <a:off x="6783687" y="3094016"/>
                <a:ext cx="241297" cy="279090"/>
              </a:xfrm>
              <a:prstGeom prst="blockArc">
                <a:avLst>
                  <a:gd name="adj1" fmla="val 10800000"/>
                  <a:gd name="adj2" fmla="val 21373037"/>
                  <a:gd name="adj3" fmla="val 6064"/>
                </a:avLst>
              </a:prstGeom>
              <a:solidFill>
                <a:schemeClr val="tx1"/>
              </a:solidFill>
              <a:ln w="19050">
                <a:solidFill>
                  <a:srgbClr val="16161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91440" rIns="91440" bIns="9144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IBM Plex Sans Light"/>
                  <a:buNone/>
                  <a:tabLst/>
                </a:pPr>
                <a:endPara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n-lt"/>
                </a:endParaRPr>
              </a:p>
            </p:txBody>
          </p:sp>
          <p:cxnSp>
            <p:nvCxnSpPr>
              <p:cNvPr id="195" name="Straight Arrow Connector 194">
                <a:extLst>
                  <a:ext uri="{FF2B5EF4-FFF2-40B4-BE49-F238E27FC236}">
                    <a16:creationId xmlns:a16="http://schemas.microsoft.com/office/drawing/2014/main" id="{B20397B6-FCB2-AD01-1637-C623E445F9B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6784975" y="3003550"/>
                <a:ext cx="119360" cy="22217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202" name="Picture 201">
              <a:extLst>
                <a:ext uri="{FF2B5EF4-FFF2-40B4-BE49-F238E27FC236}">
                  <a16:creationId xmlns:a16="http://schemas.microsoft.com/office/drawing/2014/main" id="{D8BC0A1F-7BB1-A3EA-6AC8-C72E0E7DD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40449" y="3892067"/>
              <a:ext cx="1457528" cy="392225"/>
            </a:xfrm>
            <a:prstGeom prst="rect">
              <a:avLst/>
            </a:prstGeom>
          </p:spPr>
        </p:pic>
        <p:pic>
          <p:nvPicPr>
            <p:cNvPr id="203" name="Picture 202">
              <a:extLst>
                <a:ext uri="{FF2B5EF4-FFF2-40B4-BE49-F238E27FC236}">
                  <a16:creationId xmlns:a16="http://schemas.microsoft.com/office/drawing/2014/main" id="{B6F64C44-F092-C9B3-5933-56BA08D44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91709" y="4411072"/>
              <a:ext cx="1241830" cy="682270"/>
            </a:xfrm>
            <a:prstGeom prst="rect">
              <a:avLst/>
            </a:prstGeom>
          </p:spPr>
        </p:pic>
      </p:grpSp>
      <p:pic>
        <p:nvPicPr>
          <p:cNvPr id="204" name="Picture 203">
            <a:extLst>
              <a:ext uri="{FF2B5EF4-FFF2-40B4-BE49-F238E27FC236}">
                <a16:creationId xmlns:a16="http://schemas.microsoft.com/office/drawing/2014/main" id="{C4B3E85D-BCB2-A5B6-D679-65567DE692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0345" y="2145828"/>
            <a:ext cx="3027432" cy="544826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C23F22B9-CD22-B5C3-D67E-FA7B875126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202" y="4390313"/>
            <a:ext cx="2123131" cy="544825"/>
          </a:xfrm>
          <a:prstGeom prst="rect">
            <a:avLst/>
          </a:prstGeom>
        </p:spPr>
      </p:pic>
      <p:sp>
        <p:nvSpPr>
          <p:cNvPr id="210" name="Right Brace 209">
            <a:extLst>
              <a:ext uri="{FF2B5EF4-FFF2-40B4-BE49-F238E27FC236}">
                <a16:creationId xmlns:a16="http://schemas.microsoft.com/office/drawing/2014/main" id="{7F7D2B9D-D4DA-1662-6E44-B0DDDC518807}"/>
              </a:ext>
            </a:extLst>
          </p:cNvPr>
          <p:cNvSpPr/>
          <p:nvPr/>
        </p:nvSpPr>
        <p:spPr bwMode="auto">
          <a:xfrm rot="5400000">
            <a:off x="9408271" y="2175571"/>
            <a:ext cx="192222" cy="1032037"/>
          </a:xfrm>
          <a:prstGeom prst="rightBrac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4E99BD5C-8135-2857-DD4A-295664078774}"/>
              </a:ext>
            </a:extLst>
          </p:cNvPr>
          <p:cNvCxnSpPr>
            <a:cxnSpLocks/>
          </p:cNvCxnSpPr>
          <p:nvPr/>
        </p:nvCxnSpPr>
        <p:spPr bwMode="auto">
          <a:xfrm flipH="1">
            <a:off x="9504659" y="3126660"/>
            <a:ext cx="1632" cy="84945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71676566-D22A-3A60-4223-520570B96AED}"/>
              </a:ext>
            </a:extLst>
          </p:cNvPr>
          <p:cNvSpPr txBox="1">
            <a:spLocks/>
          </p:cNvSpPr>
          <p:nvPr/>
        </p:nvSpPr>
        <p:spPr>
          <a:xfrm>
            <a:off x="29655" y="6576684"/>
            <a:ext cx="2477765" cy="1905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07"/>
            <a:r>
              <a:rPr lang="en-US" sz="1050">
                <a:solidFill>
                  <a:srgbClr val="000000"/>
                </a:solidFill>
                <a:latin typeface="IBM Plex Sans Light" panose="020B0403050203000203" pitchFamily="34" charset="0"/>
              </a:rPr>
              <a:t>IBM Quantum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F9A9CD1-45F0-1D9F-0B96-FA2C52B7A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55" y="131477"/>
            <a:ext cx="8165529" cy="953294"/>
          </a:xfrm>
        </p:spPr>
        <p:txBody>
          <a:bodyPr/>
          <a:lstStyle/>
          <a:p>
            <a:r>
              <a:rPr lang="en-US" sz="3599" kern="1200" dirty="0">
                <a:solidFill>
                  <a:srgbClr val="1161FF"/>
                </a:solidFill>
                <a:latin typeface="IBM Plex Sans Light" panose="020B0403050203000203" pitchFamily="34" charset="0"/>
                <a:ea typeface="+mn-ea"/>
                <a:cs typeface="+mn-cs"/>
              </a:rPr>
              <a:t>Operator backpropagation (OBP)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E801871-B8B2-6FAC-FA8D-CDF137F599F5}"/>
              </a:ext>
            </a:extLst>
          </p:cNvPr>
          <p:cNvSpPr txBox="1"/>
          <p:nvPr/>
        </p:nvSpPr>
        <p:spPr>
          <a:xfrm>
            <a:off x="7536263" y="5408173"/>
            <a:ext cx="4501993" cy="132343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en-US" sz="2000" dirty="0"/>
              <a:t>Trading reduced circuit depth for more observables to measure (i.e., more circuit executions) and </a:t>
            </a:r>
            <a:br>
              <a:rPr lang="en-US" sz="2000" dirty="0"/>
            </a:br>
            <a:r>
              <a:rPr lang="en-US" sz="2000" dirty="0"/>
              <a:t>more classical processing.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D24D07-7CAF-6B7C-82AD-A6B43CC276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2836" y="109488"/>
            <a:ext cx="1719361" cy="169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267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1FC01-AD04-FF84-9029-86E823230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0F957A-79A8-F70E-F016-88E86C0DA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105" y="329183"/>
            <a:ext cx="2407535" cy="23774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874A08-C9FD-5F34-3920-F81CDDD4E1D8}"/>
              </a:ext>
            </a:extLst>
          </p:cNvPr>
          <p:cNvSpPr txBox="1"/>
          <p:nvPr/>
        </p:nvSpPr>
        <p:spPr>
          <a:xfrm>
            <a:off x="252324" y="223755"/>
            <a:ext cx="5499889" cy="114023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latin typeface="+mj-lt"/>
                <a:ea typeface="+mj-ea"/>
                <a:cs typeface="+mj-cs"/>
              </a:rPr>
              <a:t>Problem type: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estimate expectation values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183EEE-1510-7C90-6E45-666AF69C7409}"/>
              </a:ext>
            </a:extLst>
          </p:cNvPr>
          <p:cNvSpPr txBox="1"/>
          <p:nvPr/>
        </p:nvSpPr>
        <p:spPr>
          <a:xfrm>
            <a:off x="252324" y="1967024"/>
            <a:ext cx="4306186" cy="31700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Basic: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a 1D Hamiltonian simulation problem on a quantum computer via </a:t>
            </a:r>
            <a:r>
              <a:rPr lang="en-US" dirty="0" err="1"/>
              <a:t>trotterization</a:t>
            </a:r>
            <a:r>
              <a:rPr lang="en-US" dirty="0"/>
              <a:t> (breaking up the time of evolution into multiple smaller steps)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 how a 1D system, where some or all sites are initially filled, evolve over time and compute the probability of occupancy over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564A1E-BC02-46F5-0F14-4305BF9594C5}"/>
              </a:ext>
            </a:extLst>
          </p:cNvPr>
          <p:cNvSpPr txBox="1"/>
          <p:nvPr/>
        </p:nvSpPr>
        <p:spPr>
          <a:xfrm>
            <a:off x="4726214" y="3187147"/>
            <a:ext cx="4306186" cy="34470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Intermediate: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a 1D Hamiltonian simulation problem on a quantum computer via </a:t>
            </a:r>
            <a:r>
              <a:rPr lang="en-US" dirty="0" err="1"/>
              <a:t>trotterization</a:t>
            </a:r>
            <a:r>
              <a:rPr lang="en-US" dirty="0"/>
              <a:t> (breaking up the time of evolution into multiple smaller steps)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AQC tensor </a:t>
            </a:r>
            <a:r>
              <a:rPr lang="en-US" dirty="0"/>
              <a:t>or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OBP</a:t>
            </a:r>
            <a:r>
              <a:rPr lang="en-US" dirty="0"/>
              <a:t> to test whether a given Hamiltonian circuit can be easily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compressed by tensor network</a:t>
            </a:r>
            <a:r>
              <a:rPr lang="en-US" dirty="0"/>
              <a:t>, easily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backpropagated and computed classically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A2F30E-3BF7-F2D0-4A66-E1F5FBB773A5}"/>
              </a:ext>
            </a:extLst>
          </p:cNvPr>
          <p:cNvSpPr txBox="1"/>
          <p:nvPr/>
        </p:nvSpPr>
        <p:spPr>
          <a:xfrm>
            <a:off x="9508018" y="3505046"/>
            <a:ext cx="2407535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Low entanglement = high compressibility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9978C6-17A9-34D0-2403-670A9934B13C}"/>
              </a:ext>
            </a:extLst>
          </p:cNvPr>
          <p:cNvSpPr txBox="1"/>
          <p:nvPr/>
        </p:nvSpPr>
        <p:spPr>
          <a:xfrm>
            <a:off x="9508018" y="5348023"/>
            <a:ext cx="2407535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Low magic (non-Clifford) = high backpropagation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5EBBE2-FE66-9F3A-57EC-F66DB95ABA8B}"/>
              </a:ext>
            </a:extLst>
          </p:cNvPr>
          <p:cNvCxnSpPr>
            <a:endCxn id="7" idx="1"/>
          </p:cNvCxnSpPr>
          <p:nvPr/>
        </p:nvCxnSpPr>
        <p:spPr>
          <a:xfrm flipV="1">
            <a:off x="9032400" y="3797434"/>
            <a:ext cx="475618" cy="292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88B2A0-4A25-B0E2-DE5E-CFBD84201ABD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9032400" y="5437406"/>
            <a:ext cx="475618" cy="2030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4291313-F088-2B7D-F832-4BBBC74B05F5}"/>
              </a:ext>
            </a:extLst>
          </p:cNvPr>
          <p:cNvCxnSpPr/>
          <p:nvPr/>
        </p:nvCxnSpPr>
        <p:spPr>
          <a:xfrm>
            <a:off x="9941442" y="4178595"/>
            <a:ext cx="0" cy="10845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FB3C8D0-40C1-1090-F00F-84FACF281B33}"/>
              </a:ext>
            </a:extLst>
          </p:cNvPr>
          <p:cNvSpPr txBox="1"/>
          <p:nvPr/>
        </p:nvSpPr>
        <p:spPr>
          <a:xfrm>
            <a:off x="10122195" y="4397689"/>
            <a:ext cx="1793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Not advantage candidates</a:t>
            </a:r>
          </a:p>
        </p:txBody>
      </p:sp>
    </p:spTree>
    <p:extLst>
      <p:ext uri="{BB962C8B-B14F-4D97-AF65-F5344CB8AC3E}">
        <p14:creationId xmlns:p14="http://schemas.microsoft.com/office/powerpoint/2010/main" val="3359363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841</Words>
  <Application>Microsoft Macintosh PowerPoint</Application>
  <PresentationFormat>Widescreen</PresentationFormat>
  <Paragraphs>143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IBM Plex Sans</vt:lpstr>
      <vt:lpstr>IBM Plex Sans Light</vt:lpstr>
      <vt:lpstr>Office Theme</vt:lpstr>
      <vt:lpstr>Quantum hackathon</vt:lpstr>
      <vt:lpstr>PowerPoint Presentation</vt:lpstr>
      <vt:lpstr>PowerPoint Presentation</vt:lpstr>
      <vt:lpstr>Notice for Windows users</vt:lpstr>
      <vt:lpstr>PowerPoint Presentation</vt:lpstr>
      <vt:lpstr>Problem set 2: SQD for Polyacene molecules</vt:lpstr>
      <vt:lpstr>PowerPoint Presentation</vt:lpstr>
      <vt:lpstr>PowerPoint Presentation</vt:lpstr>
      <vt:lpstr>Approximate quantum compilation (AQC)</vt:lpstr>
      <vt:lpstr>Approximate quantum compilation (AQC)</vt:lpstr>
      <vt:lpstr>Operator backpropagation (OBP)</vt:lpstr>
      <vt:lpstr>Operator backpropagation (OBP)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Ritajit Majumdar</dc:creator>
  <cp:lastModifiedBy>Ritajit Majumdar</cp:lastModifiedBy>
  <cp:revision>2</cp:revision>
  <dcterms:created xsi:type="dcterms:W3CDTF">2026-05-20T02:27:57Z</dcterms:created>
  <dcterms:modified xsi:type="dcterms:W3CDTF">2026-05-20T03:11:05Z</dcterms:modified>
</cp:coreProperties>
</file>